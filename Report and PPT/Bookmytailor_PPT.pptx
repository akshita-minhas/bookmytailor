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68" r:id="rId15"/>
  </p:sldIdLst>
  <p:sldSz cx="9144000" cy="6858000" type="screen4x3"/>
  <p:notesSz cx="9144000" cy="6858000"/>
  <p:defaultTextStyle>
    <a:defPPr>
      <a:defRPr kern="0"/>
    </a:defPPr>
  </p:defaultTextStyle>
  <p:extLst>
    <p:ext uri="{EFAFB233-063F-42B5-8137-9DF3F51BA10A}">
      <p15:sldGuideLst xmlns:p15="http://schemas.microsoft.com/office/powerpoint/2012/main" xmlns="">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4" d="100"/>
          <a:sy n="64" d="100"/>
        </p:scale>
        <p:origin x="-1336" y="-68"/>
      </p:cViewPr>
      <p:guideLst>
        <p:guide orient="horz" pos="2880"/>
        <p:guide pos="216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1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4/24/2026</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4/24/2026</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4/24/2026</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4/24/2026</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4/24/2026</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jpe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838200"/>
          </a:xfrm>
          <a:custGeom>
            <a:avLst/>
            <a:gdLst/>
            <a:ahLst/>
            <a:cxnLst/>
            <a:rect l="l" t="t" r="r" b="b"/>
            <a:pathLst>
              <a:path w="9144000" h="838200">
                <a:moveTo>
                  <a:pt x="9144000" y="0"/>
                </a:moveTo>
                <a:lnTo>
                  <a:pt x="0" y="0"/>
                </a:lnTo>
                <a:lnTo>
                  <a:pt x="0" y="838200"/>
                </a:lnTo>
                <a:lnTo>
                  <a:pt x="9144000" y="838200"/>
                </a:lnTo>
                <a:lnTo>
                  <a:pt x="9144000" y="0"/>
                </a:lnTo>
                <a:close/>
              </a:path>
            </a:pathLst>
          </a:custGeom>
          <a:solidFill>
            <a:srgbClr val="FF3300"/>
          </a:solidFill>
        </p:spPr>
        <p:txBody>
          <a:bodyPr wrap="square" lIns="0" tIns="0" rIns="0" bIns="0" rtlCol="0"/>
          <a:lstStyle/>
          <a:p>
            <a:endParaRPr/>
          </a:p>
        </p:txBody>
      </p:sp>
      <p:pic>
        <p:nvPicPr>
          <p:cNvPr id="17" name="bg object 17"/>
          <p:cNvPicPr/>
          <p:nvPr/>
        </p:nvPicPr>
        <p:blipFill>
          <a:blip r:embed="rId7" cstate="print"/>
          <a:stretch>
            <a:fillRect/>
          </a:stretch>
        </p:blipFill>
        <p:spPr>
          <a:xfrm>
            <a:off x="0" y="6695573"/>
            <a:ext cx="9139301" cy="157663"/>
          </a:xfrm>
          <a:prstGeom prst="rect">
            <a:avLst/>
          </a:prstGeom>
        </p:spPr>
      </p:pic>
      <p:pic>
        <p:nvPicPr>
          <p:cNvPr id="18" name="bg object 18"/>
          <p:cNvPicPr/>
          <p:nvPr/>
        </p:nvPicPr>
        <p:blipFill>
          <a:blip r:embed="rId8" cstate="print"/>
          <a:stretch>
            <a:fillRect/>
          </a:stretch>
        </p:blipFill>
        <p:spPr>
          <a:xfrm>
            <a:off x="6553200" y="228600"/>
            <a:ext cx="2057400" cy="638175"/>
          </a:xfrm>
          <a:prstGeom prst="rect">
            <a:avLst/>
          </a:prstGeom>
        </p:spPr>
      </p:pic>
      <p:sp>
        <p:nvSpPr>
          <p:cNvPr id="19" name="bg object 19"/>
          <p:cNvSpPr/>
          <p:nvPr/>
        </p:nvSpPr>
        <p:spPr>
          <a:xfrm>
            <a:off x="6143625" y="0"/>
            <a:ext cx="3000375" cy="838200"/>
          </a:xfrm>
          <a:custGeom>
            <a:avLst/>
            <a:gdLst/>
            <a:ahLst/>
            <a:cxnLst/>
            <a:rect l="l" t="t" r="r" b="b"/>
            <a:pathLst>
              <a:path w="3000375" h="838200">
                <a:moveTo>
                  <a:pt x="3000375" y="0"/>
                </a:moveTo>
                <a:lnTo>
                  <a:pt x="0" y="0"/>
                </a:lnTo>
                <a:lnTo>
                  <a:pt x="0" y="838200"/>
                </a:lnTo>
                <a:lnTo>
                  <a:pt x="3000375" y="838200"/>
                </a:lnTo>
                <a:lnTo>
                  <a:pt x="3000375" y="0"/>
                </a:lnTo>
                <a:close/>
              </a:path>
            </a:pathLst>
          </a:custGeom>
          <a:solidFill>
            <a:srgbClr val="FF3300"/>
          </a:solidFill>
        </p:spPr>
        <p:txBody>
          <a:bodyPr wrap="square" lIns="0" tIns="0" rIns="0" bIns="0" rtlCol="0"/>
          <a:lstStyle/>
          <a:p>
            <a:endParaRPr/>
          </a:p>
        </p:txBody>
      </p:sp>
      <p:pic>
        <p:nvPicPr>
          <p:cNvPr id="20" name="bg object 20"/>
          <p:cNvPicPr/>
          <p:nvPr/>
        </p:nvPicPr>
        <p:blipFill>
          <a:blip r:embed="rId9" cstate="print"/>
          <a:stretch>
            <a:fillRect/>
          </a:stretch>
        </p:blipFill>
        <p:spPr>
          <a:xfrm>
            <a:off x="6553200" y="228600"/>
            <a:ext cx="2057400" cy="638175"/>
          </a:xfrm>
          <a:prstGeom prst="rect">
            <a:avLst/>
          </a:prstGeom>
        </p:spPr>
      </p:pic>
      <p:sp>
        <p:nvSpPr>
          <p:cNvPr id="21" name="bg object 21"/>
          <p:cNvSpPr/>
          <p:nvPr/>
        </p:nvSpPr>
        <p:spPr>
          <a:xfrm>
            <a:off x="6524625" y="190500"/>
            <a:ext cx="2076450" cy="685800"/>
          </a:xfrm>
          <a:custGeom>
            <a:avLst/>
            <a:gdLst/>
            <a:ahLst/>
            <a:cxnLst/>
            <a:rect l="l" t="t" r="r" b="b"/>
            <a:pathLst>
              <a:path w="2076450" h="685800">
                <a:moveTo>
                  <a:pt x="2076450" y="0"/>
                </a:moveTo>
                <a:lnTo>
                  <a:pt x="0" y="0"/>
                </a:lnTo>
                <a:lnTo>
                  <a:pt x="0" y="685800"/>
                </a:lnTo>
                <a:lnTo>
                  <a:pt x="2076450" y="685800"/>
                </a:lnTo>
                <a:lnTo>
                  <a:pt x="2076450" y="0"/>
                </a:lnTo>
                <a:close/>
              </a:path>
            </a:pathLst>
          </a:custGeom>
          <a:solidFill>
            <a:srgbClr val="FFFFFF"/>
          </a:solidFill>
        </p:spPr>
        <p:txBody>
          <a:bodyPr wrap="square" lIns="0" tIns="0" rIns="0" bIns="0" rtlCol="0"/>
          <a:lstStyle/>
          <a:p>
            <a:endParaRPr/>
          </a:p>
        </p:txBody>
      </p:sp>
      <p:pic>
        <p:nvPicPr>
          <p:cNvPr id="22" name="bg object 22"/>
          <p:cNvPicPr/>
          <p:nvPr/>
        </p:nvPicPr>
        <p:blipFill>
          <a:blip r:embed="rId10" cstate="print"/>
          <a:stretch>
            <a:fillRect/>
          </a:stretch>
        </p:blipFill>
        <p:spPr>
          <a:xfrm>
            <a:off x="6629400" y="200025"/>
            <a:ext cx="1828800" cy="923925"/>
          </a:xfrm>
          <a:prstGeom prst="rect">
            <a:avLst/>
          </a:prstGeom>
        </p:spPr>
      </p:pic>
      <p:pic>
        <p:nvPicPr>
          <p:cNvPr id="23" name="bg object 23"/>
          <p:cNvPicPr/>
          <p:nvPr/>
        </p:nvPicPr>
        <p:blipFill>
          <a:blip r:embed="rId9" cstate="print"/>
          <a:stretch>
            <a:fillRect/>
          </a:stretch>
        </p:blipFill>
        <p:spPr>
          <a:xfrm>
            <a:off x="6553200" y="228600"/>
            <a:ext cx="2057400" cy="638175"/>
          </a:xfrm>
          <a:prstGeom prst="rect">
            <a:avLst/>
          </a:prstGeom>
        </p:spPr>
      </p:pic>
      <p:sp>
        <p:nvSpPr>
          <p:cNvPr id="24" name="bg object 24"/>
          <p:cNvSpPr/>
          <p:nvPr/>
        </p:nvSpPr>
        <p:spPr>
          <a:xfrm>
            <a:off x="6572250" y="0"/>
            <a:ext cx="2114550" cy="838200"/>
          </a:xfrm>
          <a:custGeom>
            <a:avLst/>
            <a:gdLst/>
            <a:ahLst/>
            <a:cxnLst/>
            <a:rect l="l" t="t" r="r" b="b"/>
            <a:pathLst>
              <a:path w="2114550" h="838200">
                <a:moveTo>
                  <a:pt x="2114550" y="0"/>
                </a:moveTo>
                <a:lnTo>
                  <a:pt x="0" y="0"/>
                </a:lnTo>
                <a:lnTo>
                  <a:pt x="0" y="838200"/>
                </a:lnTo>
                <a:lnTo>
                  <a:pt x="2114550" y="838200"/>
                </a:lnTo>
                <a:lnTo>
                  <a:pt x="2114550" y="0"/>
                </a:lnTo>
                <a:close/>
              </a:path>
            </a:pathLst>
          </a:custGeom>
          <a:solidFill>
            <a:srgbClr val="FF3300"/>
          </a:solidFill>
        </p:spPr>
        <p:txBody>
          <a:bodyPr wrap="square" lIns="0" tIns="0" rIns="0" bIns="0" rtlCol="0"/>
          <a:lstStyle/>
          <a:p>
            <a:endParaRPr/>
          </a:p>
        </p:txBody>
      </p:sp>
      <p:pic>
        <p:nvPicPr>
          <p:cNvPr id="25" name="bg object 25"/>
          <p:cNvPicPr/>
          <p:nvPr/>
        </p:nvPicPr>
        <p:blipFill>
          <a:blip r:embed="rId9" cstate="print"/>
          <a:stretch>
            <a:fillRect/>
          </a:stretch>
        </p:blipFill>
        <p:spPr>
          <a:xfrm>
            <a:off x="6572250" y="228600"/>
            <a:ext cx="1971675" cy="638175"/>
          </a:xfrm>
          <a:prstGeom prst="rect">
            <a:avLst/>
          </a:prstGeom>
        </p:spPr>
      </p:pic>
      <p:sp>
        <p:nvSpPr>
          <p:cNvPr id="26" name="bg object 26"/>
          <p:cNvSpPr/>
          <p:nvPr/>
        </p:nvSpPr>
        <p:spPr>
          <a:xfrm>
            <a:off x="6553200" y="190500"/>
            <a:ext cx="1981200" cy="685800"/>
          </a:xfrm>
          <a:custGeom>
            <a:avLst/>
            <a:gdLst/>
            <a:ahLst/>
            <a:cxnLst/>
            <a:rect l="l" t="t" r="r" b="b"/>
            <a:pathLst>
              <a:path w="1981200" h="685800">
                <a:moveTo>
                  <a:pt x="1981200" y="0"/>
                </a:moveTo>
                <a:lnTo>
                  <a:pt x="0" y="0"/>
                </a:lnTo>
                <a:lnTo>
                  <a:pt x="0" y="685800"/>
                </a:lnTo>
                <a:lnTo>
                  <a:pt x="1981200" y="685800"/>
                </a:lnTo>
                <a:lnTo>
                  <a:pt x="1981200" y="0"/>
                </a:lnTo>
                <a:close/>
              </a:path>
            </a:pathLst>
          </a:custGeom>
          <a:solidFill>
            <a:srgbClr val="FFFFFF"/>
          </a:solidFill>
        </p:spPr>
        <p:txBody>
          <a:bodyPr wrap="square" lIns="0" tIns="0" rIns="0" bIns="0" rtlCol="0"/>
          <a:lstStyle/>
          <a:p>
            <a:endParaRPr/>
          </a:p>
        </p:txBody>
      </p:sp>
      <p:pic>
        <p:nvPicPr>
          <p:cNvPr id="27" name="bg object 27"/>
          <p:cNvPicPr/>
          <p:nvPr/>
        </p:nvPicPr>
        <p:blipFill>
          <a:blip r:embed="rId10" cstate="print"/>
          <a:stretch>
            <a:fillRect/>
          </a:stretch>
        </p:blipFill>
        <p:spPr>
          <a:xfrm>
            <a:off x="6591300" y="200025"/>
            <a:ext cx="1828800" cy="923925"/>
          </a:xfrm>
          <a:prstGeom prst="rect">
            <a:avLst/>
          </a:prstGeom>
        </p:spPr>
      </p:pic>
      <p:sp>
        <p:nvSpPr>
          <p:cNvPr id="2" name="Holder 2"/>
          <p:cNvSpPr>
            <a:spLocks noGrp="1"/>
          </p:cNvSpPr>
          <p:nvPr>
            <p:ph type="title"/>
          </p:nvPr>
        </p:nvSpPr>
        <p:spPr>
          <a:xfrm>
            <a:off x="132397" y="99694"/>
            <a:ext cx="6238875" cy="691578"/>
          </a:xfrm>
          <a:prstGeom prst="rect">
            <a:avLst/>
          </a:prstGeom>
        </p:spPr>
        <p:txBody>
          <a:bodyPr wrap="square" lIns="0" tIns="0" rIns="0" bIns="0">
            <a:spAutoFit/>
          </a:bodyPr>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446405" y="1352486"/>
            <a:ext cx="8295005" cy="4039235"/>
          </a:xfrm>
          <a:prstGeom prst="rect">
            <a:avLst/>
          </a:prstGeom>
        </p:spPr>
        <p:txBody>
          <a:bodyPr wrap="square" lIns="0" tIns="0" rIns="0" bIns="0">
            <a:spAutoFit/>
          </a:bodyPr>
          <a:lstStyle>
            <a:lvl1pPr>
              <a:defRPr sz="18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4/24/2026</a:t>
            </a:fld>
            <a:endParaRPr lang="en-US" dirty="0"/>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7222" y="1071546"/>
            <a:ext cx="9501222" cy="1370888"/>
          </a:xfrm>
          <a:prstGeom prst="rect">
            <a:avLst/>
          </a:prstGeom>
        </p:spPr>
        <p:txBody>
          <a:bodyPr vert="horz" wrap="square" lIns="0" tIns="16510" rIns="0" bIns="0" rtlCol="0">
            <a:spAutoFit/>
          </a:bodyPr>
          <a:lstStyle/>
          <a:p>
            <a:pPr marL="12700" algn="ctr">
              <a:lnSpc>
                <a:spcPct val="100000"/>
              </a:lnSpc>
              <a:spcBef>
                <a:spcPts val="130"/>
              </a:spcBef>
            </a:pPr>
            <a:r>
              <a:rPr lang="en-IN" sz="4400" dirty="0" smtClean="0"/>
              <a:t>Industry Oriented Hands-on Experience</a:t>
            </a:r>
            <a:endParaRPr sz="4400" dirty="0"/>
          </a:p>
        </p:txBody>
      </p:sp>
      <p:sp>
        <p:nvSpPr>
          <p:cNvPr id="3" name="object 3"/>
          <p:cNvSpPr txBox="1"/>
          <p:nvPr/>
        </p:nvSpPr>
        <p:spPr>
          <a:xfrm>
            <a:off x="2580639" y="2186686"/>
            <a:ext cx="3827145" cy="2324354"/>
          </a:xfrm>
          <a:prstGeom prst="rect">
            <a:avLst/>
          </a:prstGeom>
        </p:spPr>
        <p:txBody>
          <a:bodyPr vert="horz" wrap="square" lIns="0" tIns="13335" rIns="0" bIns="0" rtlCol="0">
            <a:spAutoFit/>
          </a:bodyPr>
          <a:lstStyle/>
          <a:p>
            <a:pPr marL="4445" algn="ctr">
              <a:lnSpc>
                <a:spcPct val="100000"/>
              </a:lnSpc>
              <a:spcBef>
                <a:spcPts val="105"/>
              </a:spcBef>
            </a:pPr>
            <a:endParaRPr lang="en-US" sz="3600" b="1" spc="-25" dirty="0" smtClean="0">
              <a:latin typeface="Times New Roman"/>
              <a:cs typeface="Times New Roman"/>
            </a:endParaRPr>
          </a:p>
          <a:p>
            <a:pPr marL="4445" algn="ctr">
              <a:lnSpc>
                <a:spcPct val="100000"/>
              </a:lnSpc>
              <a:spcBef>
                <a:spcPts val="105"/>
              </a:spcBef>
            </a:pPr>
            <a:r>
              <a:rPr lang="en-US" sz="3600" b="1" dirty="0" smtClean="0">
                <a:latin typeface="Times New Roman"/>
                <a:cs typeface="Times New Roman"/>
              </a:rPr>
              <a:t>on</a:t>
            </a:r>
            <a:endParaRPr sz="3600" b="1" dirty="0">
              <a:latin typeface="Times New Roman"/>
              <a:cs typeface="Times New Roman"/>
            </a:endParaRPr>
          </a:p>
          <a:p>
            <a:pPr algn="ctr">
              <a:lnSpc>
                <a:spcPct val="100000"/>
              </a:lnSpc>
              <a:spcBef>
                <a:spcPts val="285"/>
              </a:spcBef>
            </a:pPr>
            <a:r>
              <a:rPr lang="en-US" sz="4400" b="1" i="1" dirty="0" smtClean="0">
                <a:latin typeface="Times New Roman"/>
                <a:cs typeface="Times New Roman"/>
              </a:rPr>
              <a:t>BookMyTailor</a:t>
            </a:r>
            <a:endParaRPr sz="4400" dirty="0">
              <a:latin typeface="Times New Roman"/>
              <a:cs typeface="Times New Roman"/>
            </a:endParaRPr>
          </a:p>
          <a:p>
            <a:pPr marL="6350" algn="ctr">
              <a:lnSpc>
                <a:spcPct val="100000"/>
              </a:lnSpc>
              <a:spcBef>
                <a:spcPts val="425"/>
              </a:spcBef>
            </a:pPr>
            <a:r>
              <a:rPr sz="2750" i="1" dirty="0">
                <a:latin typeface="Times New Roman"/>
                <a:cs typeface="Times New Roman"/>
              </a:rPr>
              <a:t>(Course</a:t>
            </a:r>
            <a:r>
              <a:rPr sz="2750" i="1" spc="90" dirty="0">
                <a:latin typeface="Times New Roman"/>
                <a:cs typeface="Times New Roman"/>
              </a:rPr>
              <a:t> </a:t>
            </a:r>
            <a:r>
              <a:rPr sz="2750" i="1" dirty="0">
                <a:latin typeface="Times New Roman"/>
                <a:cs typeface="Times New Roman"/>
              </a:rPr>
              <a:t>Code</a:t>
            </a:r>
            <a:r>
              <a:rPr sz="2750" i="1">
                <a:latin typeface="Times New Roman"/>
                <a:cs typeface="Times New Roman"/>
              </a:rPr>
              <a:t>:</a:t>
            </a:r>
            <a:r>
              <a:rPr sz="2750" i="1" spc="110">
                <a:latin typeface="Times New Roman"/>
                <a:cs typeface="Times New Roman"/>
              </a:rPr>
              <a:t> </a:t>
            </a:r>
            <a:r>
              <a:rPr lang="en-US" sz="2750" i="1" spc="-10" dirty="0" smtClean="0">
                <a:latin typeface="Times New Roman"/>
                <a:cs typeface="Times New Roman"/>
              </a:rPr>
              <a:t>22CS422</a:t>
            </a:r>
            <a:r>
              <a:rPr sz="2750" i="1" spc="-10" smtClean="0">
                <a:latin typeface="Times New Roman"/>
                <a:cs typeface="Times New Roman"/>
              </a:rPr>
              <a:t>)</a:t>
            </a:r>
            <a:endParaRPr lang="en-US" sz="2750" i="1" spc="-10" dirty="0" smtClean="0">
              <a:latin typeface="Times New Roman"/>
              <a:cs typeface="Times New Roman"/>
            </a:endParaRPr>
          </a:p>
        </p:txBody>
      </p:sp>
      <p:sp>
        <p:nvSpPr>
          <p:cNvPr id="4" name="object 4"/>
          <p:cNvSpPr txBox="1"/>
          <p:nvPr/>
        </p:nvSpPr>
        <p:spPr>
          <a:xfrm>
            <a:off x="368617" y="4483163"/>
            <a:ext cx="3283585" cy="1592744"/>
          </a:xfrm>
          <a:prstGeom prst="rect">
            <a:avLst/>
          </a:prstGeom>
        </p:spPr>
        <p:txBody>
          <a:bodyPr vert="horz" wrap="square" lIns="0" tIns="53340" rIns="0" bIns="0" rtlCol="0">
            <a:spAutoFit/>
          </a:bodyPr>
          <a:lstStyle/>
          <a:p>
            <a:pPr marL="12700">
              <a:lnSpc>
                <a:spcPct val="100000"/>
              </a:lnSpc>
              <a:spcBef>
                <a:spcPts val="420"/>
              </a:spcBef>
            </a:pPr>
            <a:endParaRPr lang="en-US" sz="1800" b="1" dirty="0" smtClean="0">
              <a:latin typeface="Times New Roman"/>
              <a:cs typeface="Times New Roman"/>
            </a:endParaRPr>
          </a:p>
          <a:p>
            <a:pPr marL="12700">
              <a:lnSpc>
                <a:spcPct val="100000"/>
              </a:lnSpc>
              <a:spcBef>
                <a:spcPts val="420"/>
              </a:spcBef>
            </a:pPr>
            <a:r>
              <a:rPr sz="1800" b="1" smtClean="0">
                <a:latin typeface="Times New Roman"/>
                <a:cs typeface="Times New Roman"/>
              </a:rPr>
              <a:t>Presented</a:t>
            </a:r>
            <a:r>
              <a:rPr sz="1800" b="1" spc="-30" smtClean="0">
                <a:latin typeface="Times New Roman"/>
                <a:cs typeface="Times New Roman"/>
              </a:rPr>
              <a:t> </a:t>
            </a:r>
            <a:r>
              <a:rPr sz="1800" b="1" spc="-25" dirty="0">
                <a:latin typeface="Times New Roman"/>
                <a:cs typeface="Times New Roman"/>
              </a:rPr>
              <a:t>By:</a:t>
            </a:r>
            <a:endParaRPr sz="1800">
              <a:latin typeface="Times New Roman"/>
              <a:cs typeface="Times New Roman"/>
            </a:endParaRPr>
          </a:p>
          <a:p>
            <a:pPr marL="527050" indent="-514350">
              <a:lnSpc>
                <a:spcPct val="100000"/>
              </a:lnSpc>
              <a:spcBef>
                <a:spcPts val="240"/>
              </a:spcBef>
              <a:buAutoNum type="arabicPeriod"/>
              <a:tabLst>
                <a:tab pos="527050" algn="l"/>
              </a:tabLst>
            </a:pPr>
            <a:r>
              <a:rPr sz="1800" smtClean="0">
                <a:latin typeface="Times New Roman"/>
                <a:cs typeface="Times New Roman"/>
              </a:rPr>
              <a:t>Akshita</a:t>
            </a:r>
            <a:r>
              <a:rPr sz="1800" spc="-10" smtClean="0">
                <a:latin typeface="Times New Roman"/>
                <a:cs typeface="Times New Roman"/>
              </a:rPr>
              <a:t> </a:t>
            </a:r>
            <a:r>
              <a:rPr sz="1800" spc="-10" dirty="0">
                <a:latin typeface="Times New Roman"/>
                <a:cs typeface="Times New Roman"/>
              </a:rPr>
              <a:t>Minhas(2211985004)</a:t>
            </a:r>
            <a:endParaRPr sz="1800">
              <a:latin typeface="Times New Roman"/>
              <a:cs typeface="Times New Roman"/>
            </a:endParaRPr>
          </a:p>
          <a:p>
            <a:pPr marL="527050" indent="-514350">
              <a:lnSpc>
                <a:spcPct val="100000"/>
              </a:lnSpc>
              <a:spcBef>
                <a:spcPts val="320"/>
              </a:spcBef>
              <a:buAutoNum type="arabicPeriod"/>
              <a:tabLst>
                <a:tab pos="527050" algn="l"/>
              </a:tabLst>
            </a:pPr>
            <a:r>
              <a:rPr sz="1800" dirty="0">
                <a:latin typeface="Times New Roman"/>
                <a:cs typeface="Times New Roman"/>
              </a:rPr>
              <a:t>Saneha</a:t>
            </a:r>
            <a:r>
              <a:rPr sz="1800" spc="-60" dirty="0">
                <a:latin typeface="Times New Roman"/>
                <a:cs typeface="Times New Roman"/>
              </a:rPr>
              <a:t> </a:t>
            </a:r>
            <a:r>
              <a:rPr sz="1800" dirty="0">
                <a:latin typeface="Times New Roman"/>
                <a:cs typeface="Times New Roman"/>
              </a:rPr>
              <a:t>Bhatia</a:t>
            </a:r>
            <a:r>
              <a:rPr sz="1800" spc="15" dirty="0">
                <a:latin typeface="Times New Roman"/>
                <a:cs typeface="Times New Roman"/>
              </a:rPr>
              <a:t> </a:t>
            </a:r>
            <a:r>
              <a:rPr sz="1800" spc="-10" dirty="0">
                <a:latin typeface="Times New Roman"/>
                <a:cs typeface="Times New Roman"/>
              </a:rPr>
              <a:t>(2211985044)</a:t>
            </a:r>
            <a:endParaRPr sz="1800">
              <a:latin typeface="Times New Roman"/>
              <a:cs typeface="Times New Roman"/>
            </a:endParaRPr>
          </a:p>
          <a:p>
            <a:pPr marL="527050" indent="-514350">
              <a:lnSpc>
                <a:spcPct val="100000"/>
              </a:lnSpc>
              <a:spcBef>
                <a:spcPts val="320"/>
              </a:spcBef>
              <a:buAutoNum type="arabicPeriod"/>
              <a:tabLst>
                <a:tab pos="527050" algn="l"/>
              </a:tabLst>
            </a:pPr>
            <a:r>
              <a:rPr sz="1800" dirty="0">
                <a:latin typeface="Times New Roman"/>
                <a:cs typeface="Times New Roman"/>
              </a:rPr>
              <a:t>Suhani</a:t>
            </a:r>
            <a:r>
              <a:rPr sz="1800" spc="10" dirty="0">
                <a:latin typeface="Times New Roman"/>
                <a:cs typeface="Times New Roman"/>
              </a:rPr>
              <a:t> </a:t>
            </a:r>
            <a:r>
              <a:rPr sz="1800" spc="-10" dirty="0">
                <a:latin typeface="Times New Roman"/>
                <a:cs typeface="Times New Roman"/>
              </a:rPr>
              <a:t>(2211985050)</a:t>
            </a:r>
            <a:endParaRPr sz="1800">
              <a:latin typeface="Times New Roman"/>
              <a:cs typeface="Times New Roman"/>
            </a:endParaRPr>
          </a:p>
        </p:txBody>
      </p:sp>
      <p:sp>
        <p:nvSpPr>
          <p:cNvPr id="5" name="object 5"/>
          <p:cNvSpPr txBox="1"/>
          <p:nvPr/>
        </p:nvSpPr>
        <p:spPr>
          <a:xfrm>
            <a:off x="8605266" y="6438582"/>
            <a:ext cx="102870" cy="208915"/>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888888"/>
                </a:solidFill>
                <a:latin typeface="Calibri"/>
                <a:cs typeface="Calibri"/>
              </a:rPr>
              <a:t>1</a:t>
            </a:r>
            <a:endParaRPr sz="120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838200"/>
          </a:xfrm>
          <a:custGeom>
            <a:avLst/>
            <a:gdLst/>
            <a:ahLst/>
            <a:cxnLst/>
            <a:rect l="l" t="t" r="r" b="b"/>
            <a:pathLst>
              <a:path w="9144000" h="838200">
                <a:moveTo>
                  <a:pt x="9144000" y="0"/>
                </a:moveTo>
                <a:lnTo>
                  <a:pt x="0" y="0"/>
                </a:lnTo>
                <a:lnTo>
                  <a:pt x="0" y="838200"/>
                </a:lnTo>
                <a:lnTo>
                  <a:pt x="9144000" y="838200"/>
                </a:lnTo>
                <a:lnTo>
                  <a:pt x="9144000" y="0"/>
                </a:lnTo>
                <a:close/>
              </a:path>
            </a:pathLst>
          </a:custGeom>
          <a:solidFill>
            <a:srgbClr val="FF3300"/>
          </a:solidFill>
        </p:spPr>
        <p:txBody>
          <a:bodyPr wrap="square" lIns="0" tIns="0" rIns="0" bIns="0" rtlCol="0"/>
          <a:lstStyle/>
          <a:p>
            <a:endParaRPr/>
          </a:p>
        </p:txBody>
      </p:sp>
      <p:pic>
        <p:nvPicPr>
          <p:cNvPr id="3" name="object 3"/>
          <p:cNvPicPr/>
          <p:nvPr/>
        </p:nvPicPr>
        <p:blipFill>
          <a:blip r:embed="rId2" cstate="print"/>
          <a:stretch>
            <a:fillRect/>
          </a:stretch>
        </p:blipFill>
        <p:spPr>
          <a:xfrm>
            <a:off x="0" y="6695573"/>
            <a:ext cx="9139301" cy="157663"/>
          </a:xfrm>
          <a:prstGeom prst="rect">
            <a:avLst/>
          </a:prstGeom>
        </p:spPr>
      </p:pic>
      <p:grpSp>
        <p:nvGrpSpPr>
          <p:cNvPr id="4" name="object 4"/>
          <p:cNvGrpSpPr/>
          <p:nvPr/>
        </p:nvGrpSpPr>
        <p:grpSpPr>
          <a:xfrm>
            <a:off x="6143625" y="0"/>
            <a:ext cx="3000375" cy="1123950"/>
            <a:chOff x="6143625" y="0"/>
            <a:chExt cx="3000375" cy="1123950"/>
          </a:xfrm>
        </p:grpSpPr>
        <p:pic>
          <p:nvPicPr>
            <p:cNvPr id="5" name="object 5"/>
            <p:cNvPicPr/>
            <p:nvPr/>
          </p:nvPicPr>
          <p:blipFill>
            <a:blip r:embed="rId3" cstate="print"/>
            <a:stretch>
              <a:fillRect/>
            </a:stretch>
          </p:blipFill>
          <p:spPr>
            <a:xfrm>
              <a:off x="6553200" y="228600"/>
              <a:ext cx="2057400" cy="638175"/>
            </a:xfrm>
            <a:prstGeom prst="rect">
              <a:avLst/>
            </a:prstGeom>
          </p:spPr>
        </p:pic>
        <p:sp>
          <p:nvSpPr>
            <p:cNvPr id="6" name="object 6"/>
            <p:cNvSpPr/>
            <p:nvPr/>
          </p:nvSpPr>
          <p:spPr>
            <a:xfrm>
              <a:off x="6143625" y="0"/>
              <a:ext cx="3000375" cy="838200"/>
            </a:xfrm>
            <a:custGeom>
              <a:avLst/>
              <a:gdLst/>
              <a:ahLst/>
              <a:cxnLst/>
              <a:rect l="l" t="t" r="r" b="b"/>
              <a:pathLst>
                <a:path w="3000375" h="838200">
                  <a:moveTo>
                    <a:pt x="3000375" y="0"/>
                  </a:moveTo>
                  <a:lnTo>
                    <a:pt x="0" y="0"/>
                  </a:lnTo>
                  <a:lnTo>
                    <a:pt x="0" y="838200"/>
                  </a:lnTo>
                  <a:lnTo>
                    <a:pt x="3000375" y="838200"/>
                  </a:lnTo>
                  <a:lnTo>
                    <a:pt x="3000375" y="0"/>
                  </a:lnTo>
                  <a:close/>
                </a:path>
              </a:pathLst>
            </a:custGeom>
            <a:solidFill>
              <a:srgbClr val="FF3300"/>
            </a:solidFill>
          </p:spPr>
          <p:txBody>
            <a:bodyPr wrap="square" lIns="0" tIns="0" rIns="0" bIns="0" rtlCol="0"/>
            <a:lstStyle/>
            <a:p>
              <a:endParaRPr/>
            </a:p>
          </p:txBody>
        </p:sp>
        <p:pic>
          <p:nvPicPr>
            <p:cNvPr id="7" name="object 7"/>
            <p:cNvPicPr/>
            <p:nvPr/>
          </p:nvPicPr>
          <p:blipFill>
            <a:blip r:embed="rId4" cstate="print"/>
            <a:stretch>
              <a:fillRect/>
            </a:stretch>
          </p:blipFill>
          <p:spPr>
            <a:xfrm>
              <a:off x="6553200" y="228600"/>
              <a:ext cx="2057400" cy="638175"/>
            </a:xfrm>
            <a:prstGeom prst="rect">
              <a:avLst/>
            </a:prstGeom>
          </p:spPr>
        </p:pic>
        <p:sp>
          <p:nvSpPr>
            <p:cNvPr id="8" name="object 8"/>
            <p:cNvSpPr/>
            <p:nvPr/>
          </p:nvSpPr>
          <p:spPr>
            <a:xfrm>
              <a:off x="6524625" y="190500"/>
              <a:ext cx="2076450" cy="685800"/>
            </a:xfrm>
            <a:custGeom>
              <a:avLst/>
              <a:gdLst/>
              <a:ahLst/>
              <a:cxnLst/>
              <a:rect l="l" t="t" r="r" b="b"/>
              <a:pathLst>
                <a:path w="2076450" h="685800">
                  <a:moveTo>
                    <a:pt x="2076450" y="0"/>
                  </a:moveTo>
                  <a:lnTo>
                    <a:pt x="0" y="0"/>
                  </a:lnTo>
                  <a:lnTo>
                    <a:pt x="0" y="685800"/>
                  </a:lnTo>
                  <a:lnTo>
                    <a:pt x="2076450" y="685800"/>
                  </a:lnTo>
                  <a:lnTo>
                    <a:pt x="2076450" y="0"/>
                  </a:lnTo>
                  <a:close/>
                </a:path>
              </a:pathLst>
            </a:custGeom>
            <a:solidFill>
              <a:srgbClr val="FFFFFF"/>
            </a:solidFill>
          </p:spPr>
          <p:txBody>
            <a:bodyPr wrap="square" lIns="0" tIns="0" rIns="0" bIns="0" rtlCol="0"/>
            <a:lstStyle/>
            <a:p>
              <a:endParaRPr/>
            </a:p>
          </p:txBody>
        </p:sp>
        <p:pic>
          <p:nvPicPr>
            <p:cNvPr id="9" name="object 9"/>
            <p:cNvPicPr/>
            <p:nvPr/>
          </p:nvPicPr>
          <p:blipFill>
            <a:blip r:embed="rId5" cstate="print"/>
            <a:stretch>
              <a:fillRect/>
            </a:stretch>
          </p:blipFill>
          <p:spPr>
            <a:xfrm>
              <a:off x="6629400" y="200025"/>
              <a:ext cx="1828800" cy="923925"/>
            </a:xfrm>
            <a:prstGeom prst="rect">
              <a:avLst/>
            </a:prstGeom>
          </p:spPr>
        </p:pic>
      </p:grpSp>
      <p:sp>
        <p:nvSpPr>
          <p:cNvPr id="10" name="object 10"/>
          <p:cNvSpPr txBox="1">
            <a:spLocks noGrp="1"/>
          </p:cNvSpPr>
          <p:nvPr>
            <p:ph type="title"/>
          </p:nvPr>
        </p:nvSpPr>
        <p:spPr>
          <a:prstGeom prst="rect">
            <a:avLst/>
          </a:prstGeom>
        </p:spPr>
        <p:txBody>
          <a:bodyPr vert="horz" wrap="square" lIns="0" tIns="16510" rIns="0" bIns="0" rtlCol="0">
            <a:spAutoFit/>
          </a:bodyPr>
          <a:lstStyle/>
          <a:p>
            <a:pPr marL="512445">
              <a:lnSpc>
                <a:spcPct val="100000"/>
              </a:lnSpc>
              <a:spcBef>
                <a:spcPts val="130"/>
              </a:spcBef>
            </a:pPr>
            <a:r>
              <a:rPr sz="2750" u="sng" dirty="0">
                <a:uFill>
                  <a:solidFill>
                    <a:srgbClr val="000000"/>
                  </a:solidFill>
                </a:uFill>
              </a:rPr>
              <a:t>Sustainable</a:t>
            </a:r>
            <a:r>
              <a:rPr sz="2750" u="sng" spc="200" dirty="0">
                <a:uFill>
                  <a:solidFill>
                    <a:srgbClr val="000000"/>
                  </a:solidFill>
                </a:uFill>
              </a:rPr>
              <a:t> </a:t>
            </a:r>
            <a:r>
              <a:rPr sz="2750" u="sng" dirty="0">
                <a:uFill>
                  <a:solidFill>
                    <a:srgbClr val="000000"/>
                  </a:solidFill>
                </a:uFill>
              </a:rPr>
              <a:t>Development</a:t>
            </a:r>
            <a:r>
              <a:rPr sz="2750" u="sng" spc="210" dirty="0">
                <a:uFill>
                  <a:solidFill>
                    <a:srgbClr val="000000"/>
                  </a:solidFill>
                </a:uFill>
              </a:rPr>
              <a:t> </a:t>
            </a:r>
            <a:r>
              <a:rPr sz="2750" u="sng" spc="-10" dirty="0">
                <a:uFill>
                  <a:solidFill>
                    <a:srgbClr val="000000"/>
                  </a:solidFill>
                </a:uFill>
              </a:rPr>
              <a:t>Goals</a:t>
            </a:r>
            <a:endParaRPr sz="2750"/>
          </a:p>
        </p:txBody>
      </p:sp>
      <p:sp>
        <p:nvSpPr>
          <p:cNvPr id="11" name="object 11"/>
          <p:cNvSpPr txBox="1"/>
          <p:nvPr/>
        </p:nvSpPr>
        <p:spPr>
          <a:xfrm>
            <a:off x="345757" y="1423987"/>
            <a:ext cx="7298077" cy="3276538"/>
          </a:xfrm>
          <a:prstGeom prst="rect">
            <a:avLst/>
          </a:prstGeom>
        </p:spPr>
        <p:txBody>
          <a:bodyPr vert="horz" wrap="square" lIns="0" tIns="100330" rIns="0" bIns="0" rtlCol="0">
            <a:spAutoFit/>
          </a:bodyPr>
          <a:lstStyle/>
          <a:p>
            <a:pPr marL="182880" indent="-174625">
              <a:lnSpc>
                <a:spcPct val="100000"/>
              </a:lnSpc>
              <a:spcBef>
                <a:spcPts val="790"/>
              </a:spcBef>
              <a:buSzPct val="94444"/>
              <a:buAutoNum type="arabicPeriod"/>
              <a:tabLst>
                <a:tab pos="182880" algn="l"/>
              </a:tabLst>
            </a:pPr>
            <a:r>
              <a:rPr sz="1800" b="1" spc="-10" dirty="0">
                <a:latin typeface="Times New Roman"/>
                <a:cs typeface="Times New Roman"/>
              </a:rPr>
              <a:t>Industry,</a:t>
            </a:r>
            <a:r>
              <a:rPr sz="1800" b="1" spc="-40" dirty="0">
                <a:latin typeface="Times New Roman"/>
                <a:cs typeface="Times New Roman"/>
              </a:rPr>
              <a:t> </a:t>
            </a:r>
            <a:r>
              <a:rPr sz="1800" b="1" dirty="0">
                <a:latin typeface="Times New Roman"/>
                <a:cs typeface="Times New Roman"/>
              </a:rPr>
              <a:t>Innovation,</a:t>
            </a:r>
            <a:r>
              <a:rPr sz="1800" b="1" spc="-25" dirty="0">
                <a:latin typeface="Times New Roman"/>
                <a:cs typeface="Times New Roman"/>
              </a:rPr>
              <a:t> </a:t>
            </a:r>
            <a:r>
              <a:rPr sz="1800" b="1" dirty="0">
                <a:latin typeface="Times New Roman"/>
                <a:cs typeface="Times New Roman"/>
              </a:rPr>
              <a:t>and</a:t>
            </a:r>
            <a:r>
              <a:rPr sz="1800" b="1" spc="15" dirty="0">
                <a:latin typeface="Times New Roman"/>
                <a:cs typeface="Times New Roman"/>
              </a:rPr>
              <a:t> </a:t>
            </a:r>
            <a:r>
              <a:rPr sz="1800" b="1" dirty="0">
                <a:latin typeface="Times New Roman"/>
                <a:cs typeface="Times New Roman"/>
              </a:rPr>
              <a:t>Infrastructure</a:t>
            </a:r>
            <a:r>
              <a:rPr sz="1800" b="1" spc="-75" dirty="0">
                <a:latin typeface="Times New Roman"/>
                <a:cs typeface="Times New Roman"/>
              </a:rPr>
              <a:t> </a:t>
            </a:r>
            <a:r>
              <a:rPr sz="1800" b="1" dirty="0">
                <a:latin typeface="Times New Roman"/>
                <a:cs typeface="Times New Roman"/>
              </a:rPr>
              <a:t>(SDG</a:t>
            </a:r>
            <a:r>
              <a:rPr sz="1800" b="1" spc="-5" dirty="0">
                <a:latin typeface="Times New Roman"/>
                <a:cs typeface="Times New Roman"/>
              </a:rPr>
              <a:t> </a:t>
            </a:r>
            <a:r>
              <a:rPr sz="1800" b="1" spc="-25" dirty="0">
                <a:latin typeface="Times New Roman"/>
                <a:cs typeface="Times New Roman"/>
              </a:rPr>
              <a:t>9)</a:t>
            </a:r>
            <a:endParaRPr sz="1800">
              <a:latin typeface="Times New Roman"/>
              <a:cs typeface="Times New Roman"/>
            </a:endParaRPr>
          </a:p>
          <a:p>
            <a:pPr>
              <a:buFont typeface="Arial" pitchFamily="34" charset="0"/>
              <a:buChar char="•"/>
            </a:pPr>
            <a:r>
              <a:rPr lang="en-US" dirty="0" smtClean="0">
                <a:latin typeface="+mn-lt"/>
                <a:cs typeface="Times New Roman" pitchFamily="18" charset="0"/>
              </a:rPr>
              <a:t> Introduces digital transformation in traditional tailoring industry </a:t>
            </a:r>
          </a:p>
          <a:p>
            <a:pPr>
              <a:buFont typeface="Arial" pitchFamily="34" charset="0"/>
              <a:buChar char="•"/>
            </a:pPr>
            <a:r>
              <a:rPr lang="en-US" dirty="0" smtClean="0">
                <a:latin typeface="+mn-lt"/>
                <a:cs typeface="Times New Roman" pitchFamily="18" charset="0"/>
              </a:rPr>
              <a:t> Builds an online service infrastructure </a:t>
            </a:r>
          </a:p>
          <a:p>
            <a:pPr>
              <a:buFont typeface="Arial" pitchFamily="34" charset="0"/>
              <a:buChar char="•"/>
            </a:pPr>
            <a:r>
              <a:rPr lang="en-US" dirty="0" smtClean="0">
                <a:latin typeface="+mn-lt"/>
                <a:cs typeface="Times New Roman" pitchFamily="18" charset="0"/>
              </a:rPr>
              <a:t> Encourages innovation in local business models </a:t>
            </a:r>
          </a:p>
          <a:p>
            <a:pPr>
              <a:buFont typeface="Arial" pitchFamily="34" charset="0"/>
              <a:buChar char="•"/>
            </a:pPr>
            <a:r>
              <a:rPr lang="en-US" dirty="0" smtClean="0">
                <a:latin typeface="+mn-lt"/>
                <a:cs typeface="Times New Roman" pitchFamily="18" charset="0"/>
              </a:rPr>
              <a:t> Connects customers and service providers through technology </a:t>
            </a:r>
          </a:p>
          <a:p>
            <a:pPr>
              <a:lnSpc>
                <a:spcPct val="100000"/>
              </a:lnSpc>
              <a:spcBef>
                <a:spcPts val="1025"/>
              </a:spcBef>
            </a:pPr>
            <a:endParaRPr sz="1800">
              <a:latin typeface="Times New Roman"/>
              <a:cs typeface="Times New Roman"/>
            </a:endParaRPr>
          </a:p>
          <a:p>
            <a:pPr marL="182880" indent="-174625">
              <a:lnSpc>
                <a:spcPct val="100000"/>
              </a:lnSpc>
              <a:buSzPct val="94444"/>
              <a:buAutoNum type="arabicPeriod" startAt="2"/>
              <a:tabLst>
                <a:tab pos="182880" algn="l"/>
              </a:tabLst>
            </a:pPr>
            <a:r>
              <a:rPr sz="1800" b="1" dirty="0">
                <a:latin typeface="Times New Roman"/>
                <a:cs typeface="Times New Roman"/>
              </a:rPr>
              <a:t>Sustainable Cities</a:t>
            </a:r>
            <a:r>
              <a:rPr sz="1800" b="1" spc="-40" dirty="0">
                <a:latin typeface="Times New Roman"/>
                <a:cs typeface="Times New Roman"/>
              </a:rPr>
              <a:t> </a:t>
            </a:r>
            <a:r>
              <a:rPr sz="1800" b="1" dirty="0">
                <a:latin typeface="Times New Roman"/>
                <a:cs typeface="Times New Roman"/>
              </a:rPr>
              <a:t>and</a:t>
            </a:r>
            <a:r>
              <a:rPr sz="1800" b="1" spc="-30" dirty="0">
                <a:latin typeface="Times New Roman"/>
                <a:cs typeface="Times New Roman"/>
              </a:rPr>
              <a:t> </a:t>
            </a:r>
            <a:r>
              <a:rPr sz="1800" b="1" spc="-10" dirty="0">
                <a:latin typeface="Times New Roman"/>
                <a:cs typeface="Times New Roman"/>
              </a:rPr>
              <a:t>Communities(SDG11)</a:t>
            </a:r>
            <a:endParaRPr sz="1800">
              <a:latin typeface="Times New Roman"/>
              <a:cs typeface="Times New Roman"/>
            </a:endParaRPr>
          </a:p>
          <a:p>
            <a:pPr>
              <a:buFont typeface="Arial" pitchFamily="34" charset="0"/>
              <a:buChar char="•"/>
            </a:pPr>
            <a:r>
              <a:rPr lang="en-US" dirty="0" smtClean="0">
                <a:latin typeface="Times New Roman" pitchFamily="18" charset="0"/>
                <a:cs typeface="Times New Roman" pitchFamily="18" charset="0"/>
              </a:rPr>
              <a:t> </a:t>
            </a:r>
            <a:r>
              <a:rPr lang="en-US" dirty="0" smtClean="0">
                <a:latin typeface="+mn-lt"/>
                <a:cs typeface="Times New Roman" pitchFamily="18" charset="0"/>
              </a:rPr>
              <a:t>Supports local businesses within communities </a:t>
            </a:r>
          </a:p>
          <a:p>
            <a:pPr>
              <a:buFont typeface="Arial" pitchFamily="34" charset="0"/>
              <a:buChar char="•"/>
            </a:pPr>
            <a:r>
              <a:rPr lang="en-US" dirty="0" smtClean="0">
                <a:latin typeface="+mn-lt"/>
                <a:cs typeface="Times New Roman" pitchFamily="18" charset="0"/>
              </a:rPr>
              <a:t> Reduces unnecessary travel through online booking </a:t>
            </a:r>
          </a:p>
          <a:p>
            <a:pPr>
              <a:buFont typeface="Arial" pitchFamily="34" charset="0"/>
              <a:buChar char="•"/>
            </a:pPr>
            <a:r>
              <a:rPr lang="en-US" dirty="0" smtClean="0">
                <a:latin typeface="+mn-lt"/>
                <a:cs typeface="Times New Roman" pitchFamily="18" charset="0"/>
              </a:rPr>
              <a:t> Promotes organized service systems in cities and towns </a:t>
            </a:r>
          </a:p>
          <a:p>
            <a:pPr>
              <a:buFont typeface="Arial" pitchFamily="34" charset="0"/>
              <a:buChar char="•"/>
            </a:pPr>
            <a:r>
              <a:rPr lang="en-US" dirty="0" smtClean="0">
                <a:latin typeface="+mn-lt"/>
                <a:cs typeface="Times New Roman" pitchFamily="18" charset="0"/>
              </a:rPr>
              <a:t> Strengthens community-based services </a:t>
            </a:r>
            <a:endParaRPr lang="en-US" dirty="0">
              <a:latin typeface="+mn-lt"/>
              <a:cs typeface="Times New Roman" pitchFamily="18" charset="0"/>
            </a:endParaRPr>
          </a:p>
        </p:txBody>
      </p:sp>
      <p:pic>
        <p:nvPicPr>
          <p:cNvPr id="12" name="object 12"/>
          <p:cNvPicPr/>
          <p:nvPr/>
        </p:nvPicPr>
        <p:blipFill>
          <a:blip r:embed="rId6" cstate="print"/>
          <a:stretch>
            <a:fillRect/>
          </a:stretch>
        </p:blipFill>
        <p:spPr>
          <a:xfrm>
            <a:off x="7429500" y="1371600"/>
            <a:ext cx="933450" cy="866775"/>
          </a:xfrm>
          <a:prstGeom prst="rect">
            <a:avLst/>
          </a:prstGeom>
        </p:spPr>
      </p:pic>
      <p:pic>
        <p:nvPicPr>
          <p:cNvPr id="13" name="object 13"/>
          <p:cNvPicPr/>
          <p:nvPr/>
        </p:nvPicPr>
        <p:blipFill>
          <a:blip r:embed="rId7" cstate="print"/>
          <a:stretch>
            <a:fillRect/>
          </a:stretch>
        </p:blipFill>
        <p:spPr>
          <a:xfrm>
            <a:off x="7553325" y="3838575"/>
            <a:ext cx="923925" cy="914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89928" rIns="0" bIns="0" rtlCol="0">
            <a:spAutoFit/>
          </a:bodyPr>
          <a:lstStyle/>
          <a:p>
            <a:pPr marL="2021205">
              <a:lnSpc>
                <a:spcPct val="100000"/>
              </a:lnSpc>
              <a:spcBef>
                <a:spcPts val="125"/>
              </a:spcBef>
            </a:pPr>
            <a:r>
              <a:rPr spc="-10" dirty="0"/>
              <a:t>Introduction</a:t>
            </a:r>
          </a:p>
        </p:txBody>
      </p:sp>
      <p:sp>
        <p:nvSpPr>
          <p:cNvPr id="3" name="object 3"/>
          <p:cNvSpPr txBox="1"/>
          <p:nvPr/>
        </p:nvSpPr>
        <p:spPr>
          <a:xfrm>
            <a:off x="75882" y="1145857"/>
            <a:ext cx="8923020" cy="5057795"/>
          </a:xfrm>
          <a:prstGeom prst="rect">
            <a:avLst/>
          </a:prstGeom>
        </p:spPr>
        <p:txBody>
          <a:bodyPr vert="horz" wrap="square" lIns="0" tIns="12700" rIns="0" bIns="0" rtlCol="0">
            <a:spAutoFit/>
          </a:bodyPr>
          <a:lstStyle/>
          <a:p>
            <a:pPr algn="just"/>
            <a:r>
              <a:rPr lang="en-US" dirty="0" smtClean="0">
                <a:latin typeface="+mn-lt"/>
                <a:cs typeface="Times New Roman" pitchFamily="18" charset="0"/>
              </a:rPr>
              <a:t>In many regions, especially smaller cities and towns, customers face difficulty in finding skilled tailors and booking appointments at convenient times. Traditional tailoring services rely on walk-in visits or manual scheduling, leading to long waiting times and inefficient service management.</a:t>
            </a:r>
          </a:p>
          <a:p>
            <a:pPr algn="just"/>
            <a:r>
              <a:rPr lang="en-US" dirty="0" smtClean="0">
                <a:latin typeface="+mn-lt"/>
                <a:cs typeface="Times New Roman" pitchFamily="18" charset="0"/>
              </a:rPr>
              <a:t>Our project aims to solve this problem by developing a digital platform (BookMyTailor) that allows users to easily find tailors, book appointments, and customize clothing services online. This system improves accessibility, saves time, and enhances the overall customer experience while supporting local tailoring </a:t>
            </a:r>
            <a:r>
              <a:rPr lang="en-US" dirty="0" err="1" smtClean="0">
                <a:latin typeface="+mn-lt"/>
                <a:cs typeface="Times New Roman" pitchFamily="18" charset="0"/>
              </a:rPr>
              <a:t>businesses.It</a:t>
            </a:r>
            <a:r>
              <a:rPr lang="en-US" dirty="0" smtClean="0">
                <a:latin typeface="+mn-lt"/>
                <a:cs typeface="Times New Roman" pitchFamily="18" charset="0"/>
              </a:rPr>
              <a:t> promotes smart service solutions, better time management, and strengthens the connection between customers and tailoring professionals.</a:t>
            </a:r>
          </a:p>
          <a:p>
            <a:pPr>
              <a:lnSpc>
                <a:spcPct val="100000"/>
              </a:lnSpc>
              <a:spcBef>
                <a:spcPts val="1875"/>
              </a:spcBef>
            </a:pPr>
            <a:endParaRPr sz="1800">
              <a:latin typeface="+mn-lt"/>
              <a:cs typeface="Calibri"/>
            </a:endParaRPr>
          </a:p>
          <a:p>
            <a:pPr marL="12700">
              <a:lnSpc>
                <a:spcPct val="100000"/>
              </a:lnSpc>
            </a:pPr>
            <a:r>
              <a:rPr sz="2400" b="1" dirty="0">
                <a:latin typeface="+mn-lt"/>
                <a:cs typeface="Times New Roman"/>
              </a:rPr>
              <a:t>Key</a:t>
            </a:r>
            <a:r>
              <a:rPr sz="2400" b="1" spc="-45" dirty="0">
                <a:latin typeface="+mn-lt"/>
                <a:cs typeface="Times New Roman"/>
              </a:rPr>
              <a:t> </a:t>
            </a:r>
            <a:r>
              <a:rPr sz="2400" b="1">
                <a:latin typeface="+mn-lt"/>
                <a:cs typeface="Times New Roman"/>
              </a:rPr>
              <a:t>Features</a:t>
            </a:r>
            <a:r>
              <a:rPr sz="2400" b="1" spc="-75">
                <a:latin typeface="+mn-lt"/>
                <a:cs typeface="Times New Roman"/>
              </a:rPr>
              <a:t> </a:t>
            </a:r>
            <a:r>
              <a:rPr sz="2400" b="1" spc="-50" smtClean="0">
                <a:latin typeface="+mn-lt"/>
                <a:cs typeface="Times New Roman"/>
              </a:rPr>
              <a:t>:</a:t>
            </a:r>
            <a:endParaRPr sz="2400">
              <a:latin typeface="+mn-lt"/>
              <a:cs typeface="Times New Roman"/>
            </a:endParaRPr>
          </a:p>
          <a:p>
            <a:pPr marL="355600" indent="-342900">
              <a:lnSpc>
                <a:spcPct val="100000"/>
              </a:lnSpc>
              <a:buFont typeface="Arial"/>
              <a:buChar char="•"/>
              <a:tabLst>
                <a:tab pos="355600" algn="l"/>
              </a:tabLst>
            </a:pPr>
            <a:r>
              <a:rPr lang="en-US" b="1" dirty="0" smtClean="0">
                <a:latin typeface="+mn-lt"/>
                <a:cs typeface="Times New Roman" pitchFamily="18" charset="0"/>
              </a:rPr>
              <a:t>Easy Appointment Booking </a:t>
            </a:r>
          </a:p>
          <a:p>
            <a:pPr marL="355600" indent="-342900">
              <a:lnSpc>
                <a:spcPct val="100000"/>
              </a:lnSpc>
              <a:buFont typeface="Arial"/>
              <a:buChar char="•"/>
              <a:tabLst>
                <a:tab pos="355600" algn="l"/>
              </a:tabLst>
            </a:pPr>
            <a:r>
              <a:rPr lang="en-US" b="1" dirty="0" smtClean="0">
                <a:latin typeface="+mn-lt"/>
                <a:cs typeface="Times New Roman" pitchFamily="18" charset="0"/>
              </a:rPr>
              <a:t>Tailor Discovery Platform </a:t>
            </a:r>
          </a:p>
          <a:p>
            <a:pPr marL="355600" indent="-342900">
              <a:lnSpc>
                <a:spcPct val="100000"/>
              </a:lnSpc>
              <a:buFont typeface="Arial"/>
              <a:buChar char="•"/>
              <a:tabLst>
                <a:tab pos="355600" algn="l"/>
              </a:tabLst>
            </a:pPr>
            <a:r>
              <a:rPr lang="en-US" b="1" dirty="0" smtClean="0">
                <a:latin typeface="+mn-lt"/>
                <a:cs typeface="Times New Roman" pitchFamily="18" charset="0"/>
              </a:rPr>
              <a:t>User-Friendly Interface </a:t>
            </a:r>
          </a:p>
          <a:p>
            <a:pPr marL="355600" indent="-342900">
              <a:lnSpc>
                <a:spcPct val="100000"/>
              </a:lnSpc>
              <a:buFont typeface="Arial"/>
              <a:buChar char="•"/>
              <a:tabLst>
                <a:tab pos="355600" algn="l"/>
              </a:tabLst>
            </a:pPr>
            <a:r>
              <a:rPr lang="en-US" b="1" dirty="0" smtClean="0">
                <a:latin typeface="+mn-lt"/>
                <a:cs typeface="Times New Roman" pitchFamily="18" charset="0"/>
              </a:rPr>
              <a:t>Customization &amp; Order Management </a:t>
            </a:r>
          </a:p>
          <a:p>
            <a:pPr marL="355600" indent="-342900">
              <a:lnSpc>
                <a:spcPct val="100000"/>
              </a:lnSpc>
              <a:buFont typeface="Arial"/>
              <a:buChar char="•"/>
              <a:tabLst>
                <a:tab pos="355600" algn="l"/>
              </a:tabLst>
            </a:pPr>
            <a:r>
              <a:rPr lang="en-US" b="1" dirty="0" smtClean="0">
                <a:latin typeface="+mn-lt"/>
                <a:cs typeface="Times New Roman" pitchFamily="18" charset="0"/>
              </a:rPr>
              <a:t>Time-Saving and Efficient </a:t>
            </a:r>
          </a:p>
          <a:p>
            <a:pPr marL="355600" indent="-342900">
              <a:lnSpc>
                <a:spcPct val="100000"/>
              </a:lnSpc>
              <a:buFont typeface="Arial"/>
              <a:buChar char="•"/>
              <a:tabLst>
                <a:tab pos="355600" algn="l"/>
              </a:tabLst>
            </a:pPr>
            <a:r>
              <a:rPr lang="en-US" b="1" dirty="0">
                <a:latin typeface="+mn-lt"/>
                <a:cs typeface="Times New Roman" pitchFamily="18" charset="0"/>
              </a:rPr>
              <a:t> </a:t>
            </a:r>
            <a:r>
              <a:rPr lang="en-US" b="1" dirty="0" smtClean="0">
                <a:latin typeface="+mn-lt"/>
                <a:cs typeface="Times New Roman" pitchFamily="18" charset="0"/>
              </a:rPr>
              <a:t>Scalable System</a:t>
            </a:r>
            <a:endParaRPr sz="1800" b="1">
              <a:latin typeface="+mn-lt"/>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1914" rIns="0" bIns="0" rtlCol="0">
            <a:spAutoFit/>
          </a:bodyPr>
          <a:lstStyle/>
          <a:p>
            <a:pPr marL="12700">
              <a:lnSpc>
                <a:spcPct val="100000"/>
              </a:lnSpc>
              <a:spcBef>
                <a:spcPts val="105"/>
              </a:spcBef>
            </a:pPr>
            <a:r>
              <a:rPr sz="3000" dirty="0"/>
              <a:t>Problem</a:t>
            </a:r>
            <a:r>
              <a:rPr sz="3000" spc="-85" dirty="0"/>
              <a:t> </a:t>
            </a:r>
            <a:r>
              <a:rPr sz="3000" dirty="0"/>
              <a:t>Statement</a:t>
            </a:r>
            <a:r>
              <a:rPr sz="3000" spc="-85" dirty="0"/>
              <a:t> </a:t>
            </a:r>
            <a:r>
              <a:rPr sz="3000" dirty="0"/>
              <a:t>&amp;</a:t>
            </a:r>
            <a:r>
              <a:rPr sz="3000" spc="-15" dirty="0"/>
              <a:t> </a:t>
            </a:r>
            <a:r>
              <a:rPr sz="3000" dirty="0"/>
              <a:t>Need</a:t>
            </a:r>
            <a:r>
              <a:rPr sz="3000" spc="-75" dirty="0"/>
              <a:t> </a:t>
            </a:r>
            <a:r>
              <a:rPr sz="3000" spc="-10" dirty="0"/>
              <a:t>Statement</a:t>
            </a:r>
            <a:endParaRPr sz="3000"/>
          </a:p>
        </p:txBody>
      </p:sp>
      <p:sp>
        <p:nvSpPr>
          <p:cNvPr id="3" name="object 3"/>
          <p:cNvSpPr txBox="1"/>
          <p:nvPr/>
        </p:nvSpPr>
        <p:spPr>
          <a:xfrm>
            <a:off x="536575" y="973137"/>
            <a:ext cx="7999730" cy="5441233"/>
          </a:xfrm>
          <a:prstGeom prst="rect">
            <a:avLst/>
          </a:prstGeom>
        </p:spPr>
        <p:txBody>
          <a:bodyPr vert="horz" wrap="square" lIns="0" tIns="62230" rIns="0" bIns="0" rtlCol="0">
            <a:spAutoFit/>
          </a:bodyPr>
          <a:lstStyle/>
          <a:p>
            <a:pPr marL="12700">
              <a:lnSpc>
                <a:spcPct val="100000"/>
              </a:lnSpc>
              <a:spcBef>
                <a:spcPts val="490"/>
              </a:spcBef>
            </a:pPr>
            <a:r>
              <a:rPr sz="1800" b="1" smtClean="0">
                <a:latin typeface="Times New Roman"/>
                <a:cs typeface="Times New Roman"/>
              </a:rPr>
              <a:t>Problem</a:t>
            </a:r>
            <a:r>
              <a:rPr sz="1800" b="1" spc="-55" smtClean="0">
                <a:latin typeface="Times New Roman"/>
                <a:cs typeface="Times New Roman"/>
              </a:rPr>
              <a:t> </a:t>
            </a:r>
            <a:r>
              <a:rPr sz="1800" b="1" spc="-10" smtClean="0">
                <a:latin typeface="Times New Roman"/>
                <a:cs typeface="Times New Roman"/>
              </a:rPr>
              <a:t>Statement:</a:t>
            </a:r>
            <a:endParaRPr sz="1800" smtClean="0">
              <a:latin typeface="Times New Roman"/>
              <a:cs typeface="Times New Roman"/>
            </a:endParaRPr>
          </a:p>
          <a:p>
            <a:pPr algn="just"/>
            <a:r>
              <a:rPr lang="en-US" dirty="0" smtClean="0">
                <a:latin typeface="+mn-lt"/>
                <a:cs typeface="Times New Roman" pitchFamily="18" charset="0"/>
              </a:rPr>
              <a:t>Traditional tailoring services often rely on walk-in visits and manual appointment scheduling, leading to long waiting times, poor time management, and lack of convenience for customers. Many people find it difficult to locate skilled tailors nearby or check their availability in advance.</a:t>
            </a:r>
          </a:p>
          <a:p>
            <a:pPr algn="just"/>
            <a:r>
              <a:rPr lang="en-US" dirty="0" smtClean="0">
                <a:latin typeface="+mn-lt"/>
                <a:cs typeface="Times New Roman" pitchFamily="18" charset="0"/>
              </a:rPr>
              <a:t>Additionally, there is no centralized platform that connects customers with tailors, which limits business opportunities for local tailors, especially in small towns and low-resource areas. This results in inefficient service delivery and reduced customer satisfaction.</a:t>
            </a:r>
          </a:p>
          <a:p>
            <a:pPr>
              <a:lnSpc>
                <a:spcPct val="100000"/>
              </a:lnSpc>
              <a:spcBef>
                <a:spcPts val="900"/>
              </a:spcBef>
            </a:pPr>
            <a:endParaRPr sz="1800" smtClean="0">
              <a:latin typeface="Calibri"/>
              <a:cs typeface="Calibri"/>
            </a:endParaRPr>
          </a:p>
          <a:p>
            <a:pPr marL="12700">
              <a:lnSpc>
                <a:spcPct val="100000"/>
              </a:lnSpc>
            </a:pPr>
            <a:r>
              <a:rPr sz="1800" b="1" smtClean="0">
                <a:latin typeface="Times New Roman"/>
                <a:cs typeface="Times New Roman"/>
              </a:rPr>
              <a:t>Need</a:t>
            </a:r>
            <a:r>
              <a:rPr sz="1800" b="1" spc="-10" smtClean="0">
                <a:latin typeface="Times New Roman"/>
                <a:cs typeface="Times New Roman"/>
              </a:rPr>
              <a:t> Statement:</a:t>
            </a:r>
            <a:endParaRPr sz="1800" smtClean="0">
              <a:latin typeface="Times New Roman"/>
              <a:cs typeface="Times New Roman"/>
            </a:endParaRPr>
          </a:p>
          <a:p>
            <a:pPr algn="just"/>
            <a:r>
              <a:rPr lang="en-US" dirty="0" smtClean="0">
                <a:latin typeface="+mn-lt"/>
                <a:cs typeface="Times New Roman" pitchFamily="18" charset="0"/>
              </a:rPr>
              <a:t>This solution aims to simplify the process of finding and booking tailoring services through a digital platform. It will improve accessibility for customers, save time, and provide a more organized system for managing appointments and orders.</a:t>
            </a:r>
          </a:p>
          <a:p>
            <a:pPr algn="just"/>
            <a:r>
              <a:rPr lang="en-US" dirty="0" smtClean="0">
                <a:latin typeface="+mn-lt"/>
                <a:cs typeface="Times New Roman" pitchFamily="18" charset="0"/>
              </a:rPr>
              <a:t>BookMyTailor will support local tailoring businesses by giving them an online presence, increasing their reach and income opportunities. It will also promote efficient service management, reduce delays, and enhance customer experience.</a:t>
            </a:r>
          </a:p>
          <a:p>
            <a:pPr algn="just"/>
            <a:r>
              <a:rPr lang="en-US" dirty="0" smtClean="0">
                <a:latin typeface="+mn-lt"/>
                <a:cs typeface="Times New Roman" pitchFamily="18" charset="0"/>
              </a:rPr>
              <a:t>Overall, the system will create a more convenient, scalable, and sustainable solution for both customers and tailoring professionals.</a:t>
            </a:r>
            <a:endParaRPr lang="en-US" dirty="0">
              <a:latin typeface="+mn-lt"/>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2089785">
              <a:lnSpc>
                <a:spcPct val="100000"/>
              </a:lnSpc>
              <a:spcBef>
                <a:spcPts val="130"/>
              </a:spcBef>
            </a:pPr>
            <a:r>
              <a:rPr spc="-10" dirty="0"/>
              <a:t>Web</a:t>
            </a:r>
            <a:r>
              <a:rPr spc="-175" dirty="0"/>
              <a:t> </a:t>
            </a:r>
            <a:r>
              <a:rPr spc="-10" dirty="0"/>
              <a:t>Design</a:t>
            </a:r>
          </a:p>
        </p:txBody>
      </p:sp>
      <p:pic>
        <p:nvPicPr>
          <p:cNvPr id="4" name="Picture 3" descr="Screenshot 2026-04-24 202128.png"/>
          <p:cNvPicPr>
            <a:picLocks noChangeAspect="1"/>
          </p:cNvPicPr>
          <p:nvPr/>
        </p:nvPicPr>
        <p:blipFill>
          <a:blip r:embed="rId2"/>
          <a:stretch>
            <a:fillRect/>
          </a:stretch>
        </p:blipFill>
        <p:spPr>
          <a:xfrm>
            <a:off x="928662" y="1214422"/>
            <a:ext cx="6858048" cy="528681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60325" rIns="0" bIns="0" rtlCol="0">
            <a:spAutoFit/>
          </a:bodyPr>
          <a:lstStyle/>
          <a:p>
            <a:pPr marL="1616710">
              <a:lnSpc>
                <a:spcPct val="100000"/>
              </a:lnSpc>
              <a:spcBef>
                <a:spcPts val="130"/>
              </a:spcBef>
            </a:pPr>
            <a:r>
              <a:rPr dirty="0"/>
              <a:t>Activity</a:t>
            </a:r>
            <a:r>
              <a:rPr spc="-75" dirty="0"/>
              <a:t> </a:t>
            </a:r>
            <a:r>
              <a:rPr spc="-10" dirty="0"/>
              <a:t>Diagram</a:t>
            </a:r>
          </a:p>
        </p:txBody>
      </p:sp>
      <p:pic>
        <p:nvPicPr>
          <p:cNvPr id="5" name="Picture 4" descr="mermaid-diagram (2).png"/>
          <p:cNvPicPr>
            <a:picLocks noChangeAspect="1"/>
          </p:cNvPicPr>
          <p:nvPr/>
        </p:nvPicPr>
        <p:blipFill>
          <a:blip r:embed="rId2"/>
          <a:stretch>
            <a:fillRect/>
          </a:stretch>
        </p:blipFill>
        <p:spPr>
          <a:xfrm>
            <a:off x="2571736" y="1142984"/>
            <a:ext cx="3500462" cy="542928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60325" rIns="0" bIns="0" rtlCol="0">
            <a:spAutoFit/>
          </a:bodyPr>
          <a:lstStyle/>
          <a:p>
            <a:pPr marL="1840864">
              <a:lnSpc>
                <a:spcPct val="100000"/>
              </a:lnSpc>
              <a:spcBef>
                <a:spcPts val="130"/>
              </a:spcBef>
            </a:pPr>
            <a:r>
              <a:rPr dirty="0"/>
              <a:t>Class</a:t>
            </a:r>
            <a:r>
              <a:rPr spc="-60" dirty="0"/>
              <a:t> </a:t>
            </a:r>
            <a:r>
              <a:rPr spc="-10" dirty="0"/>
              <a:t>Diagram</a:t>
            </a:r>
          </a:p>
        </p:txBody>
      </p:sp>
      <p:pic>
        <p:nvPicPr>
          <p:cNvPr id="4" name="Picture 3" descr="mermaid-diagram (1).png"/>
          <p:cNvPicPr>
            <a:picLocks noChangeAspect="1"/>
          </p:cNvPicPr>
          <p:nvPr/>
        </p:nvPicPr>
        <p:blipFill>
          <a:blip r:embed="rId2"/>
          <a:stretch>
            <a:fillRect/>
          </a:stretch>
        </p:blipFill>
        <p:spPr>
          <a:xfrm>
            <a:off x="1428728" y="1142984"/>
            <a:ext cx="6273800" cy="542928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60325" rIns="0" bIns="0" rtlCol="0">
            <a:spAutoFit/>
          </a:bodyPr>
          <a:lstStyle/>
          <a:p>
            <a:pPr marL="1491615">
              <a:lnSpc>
                <a:spcPct val="100000"/>
              </a:lnSpc>
              <a:spcBef>
                <a:spcPts val="130"/>
              </a:spcBef>
            </a:pPr>
            <a:r>
              <a:rPr dirty="0"/>
              <a:t>Sequence</a:t>
            </a:r>
            <a:r>
              <a:rPr spc="-105" dirty="0"/>
              <a:t> </a:t>
            </a:r>
            <a:r>
              <a:rPr spc="-10" dirty="0"/>
              <a:t>Diagram</a:t>
            </a:r>
          </a:p>
        </p:txBody>
      </p:sp>
      <p:pic>
        <p:nvPicPr>
          <p:cNvPr id="4" name="Picture 3" descr="mermaid-diagram (3).png"/>
          <p:cNvPicPr>
            <a:picLocks noChangeAspect="1"/>
          </p:cNvPicPr>
          <p:nvPr/>
        </p:nvPicPr>
        <p:blipFill>
          <a:blip r:embed="rId2"/>
          <a:stretch>
            <a:fillRect/>
          </a:stretch>
        </p:blipFill>
        <p:spPr>
          <a:xfrm>
            <a:off x="857224" y="1285860"/>
            <a:ext cx="7346054" cy="50006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5816" rIns="0" bIns="0" rtlCol="0">
            <a:spAutoFit/>
          </a:bodyPr>
          <a:lstStyle/>
          <a:p>
            <a:pPr marL="1981835">
              <a:lnSpc>
                <a:spcPct val="100000"/>
              </a:lnSpc>
              <a:spcBef>
                <a:spcPts val="100"/>
              </a:spcBef>
            </a:pPr>
            <a:r>
              <a:rPr sz="2400" spc="-20" dirty="0"/>
              <a:t>Technology</a:t>
            </a:r>
            <a:r>
              <a:rPr sz="2400" spc="-85" dirty="0"/>
              <a:t> </a:t>
            </a:r>
            <a:r>
              <a:rPr sz="2400" spc="-10" dirty="0"/>
              <a:t>Stack</a:t>
            </a:r>
            <a:endParaRPr sz="2400"/>
          </a:p>
        </p:txBody>
      </p:sp>
      <p:sp>
        <p:nvSpPr>
          <p:cNvPr id="3" name="object 3"/>
          <p:cNvSpPr txBox="1"/>
          <p:nvPr/>
        </p:nvSpPr>
        <p:spPr>
          <a:xfrm>
            <a:off x="78739" y="821499"/>
            <a:ext cx="8634730" cy="5853430"/>
          </a:xfrm>
          <a:prstGeom prst="rect">
            <a:avLst/>
          </a:prstGeom>
        </p:spPr>
        <p:txBody>
          <a:bodyPr vert="horz" wrap="square" lIns="0" tIns="12700" rIns="0" bIns="0" rtlCol="0">
            <a:spAutoFit/>
          </a:bodyPr>
          <a:lstStyle/>
          <a:p>
            <a:pPr marL="12700" marR="6167120" indent="228600">
              <a:lnSpc>
                <a:spcPct val="121600"/>
              </a:lnSpc>
              <a:spcBef>
                <a:spcPts val="100"/>
              </a:spcBef>
              <a:buAutoNum type="arabicPeriod"/>
              <a:tabLst>
                <a:tab pos="241300" algn="l"/>
              </a:tabLst>
            </a:pPr>
            <a:r>
              <a:rPr sz="1800" b="1" dirty="0">
                <a:latin typeface="Times New Roman"/>
                <a:cs typeface="Times New Roman"/>
              </a:rPr>
              <a:t>Frontend</a:t>
            </a:r>
            <a:r>
              <a:rPr sz="1800" b="1" spc="-90" dirty="0">
                <a:latin typeface="Times New Roman"/>
                <a:cs typeface="Times New Roman"/>
              </a:rPr>
              <a:t> </a:t>
            </a:r>
            <a:r>
              <a:rPr sz="1800" b="1" spc="-20" dirty="0">
                <a:latin typeface="Times New Roman"/>
                <a:cs typeface="Times New Roman"/>
              </a:rPr>
              <a:t>Technologies </a:t>
            </a:r>
            <a:r>
              <a:rPr sz="1800" b="1" spc="-10" dirty="0">
                <a:latin typeface="Times New Roman"/>
                <a:cs typeface="Times New Roman"/>
              </a:rPr>
              <a:t>React.js</a:t>
            </a:r>
            <a:endParaRPr sz="1800">
              <a:latin typeface="Times New Roman"/>
              <a:cs typeface="Times New Roman"/>
            </a:endParaRPr>
          </a:p>
          <a:p>
            <a:pPr marL="355600" lvl="1" indent="-342900">
              <a:lnSpc>
                <a:spcPct val="100000"/>
              </a:lnSpc>
              <a:spcBef>
                <a:spcPts val="395"/>
              </a:spcBef>
              <a:buFont typeface="Arial"/>
              <a:buChar char="•"/>
              <a:tabLst>
                <a:tab pos="355600" algn="l"/>
              </a:tabLst>
            </a:pPr>
            <a:r>
              <a:rPr sz="1800" dirty="0">
                <a:latin typeface="Times New Roman"/>
                <a:cs typeface="Times New Roman"/>
              </a:rPr>
              <a:t>A</a:t>
            </a:r>
            <a:r>
              <a:rPr sz="1800" spc="-110" dirty="0">
                <a:latin typeface="Times New Roman"/>
                <a:cs typeface="Times New Roman"/>
              </a:rPr>
              <a:t> </a:t>
            </a:r>
            <a:r>
              <a:rPr sz="1800" dirty="0">
                <a:latin typeface="Times New Roman"/>
                <a:cs typeface="Times New Roman"/>
              </a:rPr>
              <a:t>JavaScript</a:t>
            </a:r>
            <a:r>
              <a:rPr sz="1800" spc="25" dirty="0">
                <a:latin typeface="Times New Roman"/>
                <a:cs typeface="Times New Roman"/>
              </a:rPr>
              <a:t> </a:t>
            </a:r>
            <a:r>
              <a:rPr sz="1800" dirty="0">
                <a:latin typeface="Times New Roman"/>
                <a:cs typeface="Times New Roman"/>
              </a:rPr>
              <a:t>library used for building the</a:t>
            </a:r>
            <a:r>
              <a:rPr sz="1800" spc="-50" dirty="0">
                <a:latin typeface="Times New Roman"/>
                <a:cs typeface="Times New Roman"/>
              </a:rPr>
              <a:t> </a:t>
            </a:r>
            <a:r>
              <a:rPr sz="1800" dirty="0">
                <a:latin typeface="Times New Roman"/>
                <a:cs typeface="Times New Roman"/>
              </a:rPr>
              <a:t>user</a:t>
            </a:r>
            <a:r>
              <a:rPr sz="1800" spc="5" dirty="0">
                <a:latin typeface="Times New Roman"/>
                <a:cs typeface="Times New Roman"/>
              </a:rPr>
              <a:t> </a:t>
            </a:r>
            <a:r>
              <a:rPr sz="1800" spc="-10" dirty="0">
                <a:latin typeface="Times New Roman"/>
                <a:cs typeface="Times New Roman"/>
              </a:rPr>
              <a:t>interface.</a:t>
            </a:r>
            <a:endParaRPr sz="1800">
              <a:latin typeface="Times New Roman"/>
              <a:cs typeface="Times New Roman"/>
            </a:endParaRPr>
          </a:p>
          <a:p>
            <a:pPr marL="355600" lvl="1" indent="-342900">
              <a:lnSpc>
                <a:spcPct val="100000"/>
              </a:lnSpc>
              <a:spcBef>
                <a:spcPts val="465"/>
              </a:spcBef>
              <a:buFont typeface="Arial"/>
              <a:buChar char="•"/>
              <a:tabLst>
                <a:tab pos="355600" algn="l"/>
              </a:tabLst>
            </a:pPr>
            <a:r>
              <a:rPr sz="1800" dirty="0">
                <a:latin typeface="Times New Roman"/>
                <a:cs typeface="Times New Roman"/>
              </a:rPr>
              <a:t>Provides</a:t>
            </a:r>
            <a:r>
              <a:rPr sz="1800" spc="-40" dirty="0">
                <a:latin typeface="Times New Roman"/>
                <a:cs typeface="Times New Roman"/>
              </a:rPr>
              <a:t> </a:t>
            </a:r>
            <a:r>
              <a:rPr sz="1800" dirty="0">
                <a:latin typeface="Times New Roman"/>
                <a:cs typeface="Times New Roman"/>
              </a:rPr>
              <a:t>a</a:t>
            </a:r>
            <a:r>
              <a:rPr sz="1800" spc="25" dirty="0">
                <a:latin typeface="Times New Roman"/>
                <a:cs typeface="Times New Roman"/>
              </a:rPr>
              <a:t> </a:t>
            </a:r>
            <a:r>
              <a:rPr sz="1800" spc="-10" dirty="0">
                <a:latin typeface="Times New Roman"/>
                <a:cs typeface="Times New Roman"/>
              </a:rPr>
              <a:t>component-</a:t>
            </a:r>
            <a:r>
              <a:rPr sz="1800" dirty="0">
                <a:latin typeface="Times New Roman"/>
                <a:cs typeface="Times New Roman"/>
              </a:rPr>
              <a:t>based architecture</a:t>
            </a:r>
            <a:r>
              <a:rPr sz="1800" spc="25" dirty="0">
                <a:latin typeface="Times New Roman"/>
                <a:cs typeface="Times New Roman"/>
              </a:rPr>
              <a:t> </a:t>
            </a:r>
            <a:r>
              <a:rPr sz="1800" dirty="0">
                <a:latin typeface="Times New Roman"/>
                <a:cs typeface="Times New Roman"/>
              </a:rPr>
              <a:t>for</a:t>
            </a:r>
            <a:r>
              <a:rPr sz="1800" spc="5" dirty="0">
                <a:latin typeface="Times New Roman"/>
                <a:cs typeface="Times New Roman"/>
              </a:rPr>
              <a:t> </a:t>
            </a:r>
            <a:r>
              <a:rPr sz="1800" dirty="0">
                <a:latin typeface="Times New Roman"/>
                <a:cs typeface="Times New Roman"/>
              </a:rPr>
              <a:t>reusable</a:t>
            </a:r>
            <a:r>
              <a:rPr sz="1800" spc="25" dirty="0">
                <a:latin typeface="Times New Roman"/>
                <a:cs typeface="Times New Roman"/>
              </a:rPr>
              <a:t> </a:t>
            </a:r>
            <a:r>
              <a:rPr sz="1800" dirty="0">
                <a:latin typeface="Times New Roman"/>
                <a:cs typeface="Times New Roman"/>
              </a:rPr>
              <a:t>UI </a:t>
            </a:r>
            <a:r>
              <a:rPr sz="1800" spc="-10" dirty="0">
                <a:latin typeface="Times New Roman"/>
                <a:cs typeface="Times New Roman"/>
              </a:rPr>
              <a:t>elements.</a:t>
            </a:r>
            <a:endParaRPr sz="1800">
              <a:latin typeface="Times New Roman"/>
              <a:cs typeface="Times New Roman"/>
            </a:endParaRPr>
          </a:p>
          <a:p>
            <a:pPr marL="355600" lvl="1" indent="-342900">
              <a:lnSpc>
                <a:spcPct val="100000"/>
              </a:lnSpc>
              <a:spcBef>
                <a:spcPts val="395"/>
              </a:spcBef>
              <a:buFont typeface="Arial"/>
              <a:buChar char="•"/>
              <a:tabLst>
                <a:tab pos="355600" algn="l"/>
              </a:tabLst>
            </a:pPr>
            <a:r>
              <a:rPr sz="1800" dirty="0">
                <a:latin typeface="Times New Roman"/>
                <a:cs typeface="Times New Roman"/>
              </a:rPr>
              <a:t>Ensures</a:t>
            </a:r>
            <a:r>
              <a:rPr sz="1800" spc="-30" dirty="0">
                <a:latin typeface="Times New Roman"/>
                <a:cs typeface="Times New Roman"/>
              </a:rPr>
              <a:t> </a:t>
            </a:r>
            <a:r>
              <a:rPr sz="1800" dirty="0">
                <a:latin typeface="Times New Roman"/>
                <a:cs typeface="Times New Roman"/>
              </a:rPr>
              <a:t>fast</a:t>
            </a:r>
            <a:r>
              <a:rPr sz="1800" spc="20" dirty="0">
                <a:latin typeface="Times New Roman"/>
                <a:cs typeface="Times New Roman"/>
              </a:rPr>
              <a:t> </a:t>
            </a:r>
            <a:r>
              <a:rPr sz="1800" dirty="0">
                <a:latin typeface="Times New Roman"/>
                <a:cs typeface="Times New Roman"/>
              </a:rPr>
              <a:t>rendering using</a:t>
            </a:r>
            <a:r>
              <a:rPr sz="1800" spc="-5" dirty="0">
                <a:latin typeface="Times New Roman"/>
                <a:cs typeface="Times New Roman"/>
              </a:rPr>
              <a:t> </a:t>
            </a:r>
            <a:r>
              <a:rPr sz="1800" dirty="0">
                <a:latin typeface="Times New Roman"/>
                <a:cs typeface="Times New Roman"/>
              </a:rPr>
              <a:t>the</a:t>
            </a:r>
            <a:r>
              <a:rPr sz="1800" spc="20" dirty="0">
                <a:latin typeface="Times New Roman"/>
                <a:cs typeface="Times New Roman"/>
              </a:rPr>
              <a:t> </a:t>
            </a:r>
            <a:r>
              <a:rPr sz="1800" dirty="0">
                <a:latin typeface="Times New Roman"/>
                <a:cs typeface="Times New Roman"/>
              </a:rPr>
              <a:t>virtual</a:t>
            </a:r>
            <a:r>
              <a:rPr sz="1800" spc="25" dirty="0">
                <a:latin typeface="Times New Roman"/>
                <a:cs typeface="Times New Roman"/>
              </a:rPr>
              <a:t> </a:t>
            </a:r>
            <a:r>
              <a:rPr sz="1800" spc="-20" dirty="0">
                <a:latin typeface="Times New Roman"/>
                <a:cs typeface="Times New Roman"/>
              </a:rPr>
              <a:t>DOM.</a:t>
            </a:r>
            <a:endParaRPr sz="1800">
              <a:latin typeface="Times New Roman"/>
              <a:cs typeface="Times New Roman"/>
            </a:endParaRPr>
          </a:p>
          <a:p>
            <a:pPr marL="355600" lvl="1" indent="-342900">
              <a:lnSpc>
                <a:spcPct val="100000"/>
              </a:lnSpc>
              <a:spcBef>
                <a:spcPts val="470"/>
              </a:spcBef>
              <a:buFont typeface="Arial"/>
              <a:buChar char="•"/>
              <a:tabLst>
                <a:tab pos="355600" algn="l"/>
              </a:tabLst>
            </a:pPr>
            <a:r>
              <a:rPr sz="1800" dirty="0">
                <a:latin typeface="Times New Roman"/>
                <a:cs typeface="Times New Roman"/>
              </a:rPr>
              <a:t>Manages</a:t>
            </a:r>
            <a:r>
              <a:rPr sz="1800" spc="15" dirty="0">
                <a:latin typeface="Times New Roman"/>
                <a:cs typeface="Times New Roman"/>
              </a:rPr>
              <a:t> </a:t>
            </a:r>
            <a:r>
              <a:rPr sz="1800" dirty="0">
                <a:latin typeface="Times New Roman"/>
                <a:cs typeface="Times New Roman"/>
              </a:rPr>
              <a:t>state</a:t>
            </a:r>
            <a:r>
              <a:rPr sz="1800" spc="5" dirty="0">
                <a:latin typeface="Times New Roman"/>
                <a:cs typeface="Times New Roman"/>
              </a:rPr>
              <a:t> </a:t>
            </a:r>
            <a:r>
              <a:rPr sz="1800" dirty="0">
                <a:latin typeface="Times New Roman"/>
                <a:cs typeface="Times New Roman"/>
              </a:rPr>
              <a:t>efficiently</a:t>
            </a:r>
            <a:r>
              <a:rPr sz="1800" spc="-15" dirty="0">
                <a:latin typeface="Times New Roman"/>
                <a:cs typeface="Times New Roman"/>
              </a:rPr>
              <a:t> </a:t>
            </a:r>
            <a:r>
              <a:rPr sz="1800" dirty="0">
                <a:latin typeface="Times New Roman"/>
                <a:cs typeface="Times New Roman"/>
              </a:rPr>
              <a:t>with</a:t>
            </a:r>
            <a:r>
              <a:rPr sz="1800" spc="-20" dirty="0">
                <a:latin typeface="Times New Roman"/>
                <a:cs typeface="Times New Roman"/>
              </a:rPr>
              <a:t> </a:t>
            </a:r>
            <a:r>
              <a:rPr sz="1800" dirty="0">
                <a:latin typeface="Times New Roman"/>
                <a:cs typeface="Times New Roman"/>
              </a:rPr>
              <a:t>React</a:t>
            </a:r>
            <a:r>
              <a:rPr sz="1800" spc="-65" dirty="0">
                <a:latin typeface="Times New Roman"/>
                <a:cs typeface="Times New Roman"/>
              </a:rPr>
              <a:t> </a:t>
            </a:r>
            <a:r>
              <a:rPr sz="1800" dirty="0">
                <a:latin typeface="Times New Roman"/>
                <a:cs typeface="Times New Roman"/>
              </a:rPr>
              <a:t>Hooks</a:t>
            </a:r>
            <a:r>
              <a:rPr sz="1800" spc="-35" dirty="0">
                <a:latin typeface="Times New Roman"/>
                <a:cs typeface="Times New Roman"/>
              </a:rPr>
              <a:t> </a:t>
            </a:r>
            <a:r>
              <a:rPr sz="1800" dirty="0">
                <a:latin typeface="Times New Roman"/>
                <a:cs typeface="Times New Roman"/>
              </a:rPr>
              <a:t>(useState,</a:t>
            </a:r>
            <a:r>
              <a:rPr sz="1800" spc="-15" dirty="0">
                <a:latin typeface="Times New Roman"/>
                <a:cs typeface="Times New Roman"/>
              </a:rPr>
              <a:t> </a:t>
            </a:r>
            <a:r>
              <a:rPr sz="1800" spc="-10" dirty="0">
                <a:latin typeface="Times New Roman"/>
                <a:cs typeface="Times New Roman"/>
              </a:rPr>
              <a:t>useEffect).</a:t>
            </a:r>
            <a:endParaRPr sz="1800">
              <a:latin typeface="Times New Roman"/>
              <a:cs typeface="Times New Roman"/>
            </a:endParaRPr>
          </a:p>
          <a:p>
            <a:pPr marL="12700">
              <a:lnSpc>
                <a:spcPct val="100000"/>
              </a:lnSpc>
              <a:spcBef>
                <a:spcPts val="470"/>
              </a:spcBef>
            </a:pPr>
            <a:r>
              <a:rPr sz="1800" b="1" spc="-10" dirty="0">
                <a:latin typeface="Times New Roman"/>
                <a:cs typeface="Times New Roman"/>
              </a:rPr>
              <a:t>Tailwind</a:t>
            </a:r>
            <a:r>
              <a:rPr sz="1800" b="1" spc="-80" dirty="0">
                <a:latin typeface="Times New Roman"/>
                <a:cs typeface="Times New Roman"/>
              </a:rPr>
              <a:t> </a:t>
            </a:r>
            <a:r>
              <a:rPr sz="1800" b="1" spc="-25" dirty="0">
                <a:latin typeface="Times New Roman"/>
                <a:cs typeface="Times New Roman"/>
              </a:rPr>
              <a:t>CSS</a:t>
            </a:r>
            <a:endParaRPr sz="1800">
              <a:latin typeface="Times New Roman"/>
              <a:cs typeface="Times New Roman"/>
            </a:endParaRPr>
          </a:p>
          <a:p>
            <a:pPr marL="355600" lvl="1" indent="-342900">
              <a:lnSpc>
                <a:spcPct val="100000"/>
              </a:lnSpc>
              <a:spcBef>
                <a:spcPts val="390"/>
              </a:spcBef>
              <a:buFont typeface="Arial"/>
              <a:buChar char="•"/>
              <a:tabLst>
                <a:tab pos="355600" algn="l"/>
              </a:tabLst>
            </a:pPr>
            <a:r>
              <a:rPr sz="1800" dirty="0">
                <a:latin typeface="Times New Roman"/>
                <a:cs typeface="Times New Roman"/>
              </a:rPr>
              <a:t>A</a:t>
            </a:r>
            <a:r>
              <a:rPr sz="1800" spc="-110" dirty="0">
                <a:latin typeface="Times New Roman"/>
                <a:cs typeface="Times New Roman"/>
              </a:rPr>
              <a:t> </a:t>
            </a:r>
            <a:r>
              <a:rPr sz="1800" spc="-10" dirty="0">
                <a:latin typeface="Times New Roman"/>
                <a:cs typeface="Times New Roman"/>
              </a:rPr>
              <a:t>utility-</a:t>
            </a:r>
            <a:r>
              <a:rPr sz="1800" dirty="0">
                <a:latin typeface="Times New Roman"/>
                <a:cs typeface="Times New Roman"/>
              </a:rPr>
              <a:t>first</a:t>
            </a:r>
            <a:r>
              <a:rPr sz="1800" spc="30" dirty="0">
                <a:latin typeface="Times New Roman"/>
                <a:cs typeface="Times New Roman"/>
              </a:rPr>
              <a:t> </a:t>
            </a:r>
            <a:r>
              <a:rPr sz="1800" dirty="0">
                <a:latin typeface="Times New Roman"/>
                <a:cs typeface="Times New Roman"/>
              </a:rPr>
              <a:t>CSS</a:t>
            </a:r>
            <a:r>
              <a:rPr sz="1800" spc="-20" dirty="0">
                <a:latin typeface="Times New Roman"/>
                <a:cs typeface="Times New Roman"/>
              </a:rPr>
              <a:t> </a:t>
            </a:r>
            <a:r>
              <a:rPr sz="1800" dirty="0">
                <a:latin typeface="Times New Roman"/>
                <a:cs typeface="Times New Roman"/>
              </a:rPr>
              <a:t>framework</a:t>
            </a:r>
            <a:r>
              <a:rPr sz="1800" spc="10" dirty="0">
                <a:latin typeface="Times New Roman"/>
                <a:cs typeface="Times New Roman"/>
              </a:rPr>
              <a:t> </a:t>
            </a:r>
            <a:r>
              <a:rPr sz="1800" dirty="0">
                <a:latin typeface="Times New Roman"/>
                <a:cs typeface="Times New Roman"/>
              </a:rPr>
              <a:t>for</a:t>
            </a:r>
            <a:r>
              <a:rPr sz="1800" spc="5" dirty="0">
                <a:latin typeface="Times New Roman"/>
                <a:cs typeface="Times New Roman"/>
              </a:rPr>
              <a:t> </a:t>
            </a:r>
            <a:r>
              <a:rPr sz="1800" dirty="0">
                <a:latin typeface="Times New Roman"/>
                <a:cs typeface="Times New Roman"/>
              </a:rPr>
              <a:t>rapid</a:t>
            </a:r>
            <a:r>
              <a:rPr sz="1800" spc="5" dirty="0">
                <a:latin typeface="Times New Roman"/>
                <a:cs typeface="Times New Roman"/>
              </a:rPr>
              <a:t> </a:t>
            </a:r>
            <a:r>
              <a:rPr sz="1800" dirty="0">
                <a:latin typeface="Times New Roman"/>
                <a:cs typeface="Times New Roman"/>
              </a:rPr>
              <a:t>UI</a:t>
            </a:r>
            <a:r>
              <a:rPr sz="1800" spc="5" dirty="0">
                <a:latin typeface="Times New Roman"/>
                <a:cs typeface="Times New Roman"/>
              </a:rPr>
              <a:t> </a:t>
            </a:r>
            <a:r>
              <a:rPr sz="1800" spc="-10" dirty="0">
                <a:latin typeface="Times New Roman"/>
                <a:cs typeface="Times New Roman"/>
              </a:rPr>
              <a:t>development.</a:t>
            </a:r>
            <a:endParaRPr sz="1800">
              <a:latin typeface="Times New Roman"/>
              <a:cs typeface="Times New Roman"/>
            </a:endParaRPr>
          </a:p>
          <a:p>
            <a:pPr marL="355600" lvl="1" indent="-342900">
              <a:lnSpc>
                <a:spcPct val="100000"/>
              </a:lnSpc>
              <a:spcBef>
                <a:spcPts val="470"/>
              </a:spcBef>
              <a:buFont typeface="Arial"/>
              <a:buChar char="•"/>
              <a:tabLst>
                <a:tab pos="355600" algn="l"/>
              </a:tabLst>
            </a:pPr>
            <a:r>
              <a:rPr sz="1800" dirty="0">
                <a:latin typeface="Times New Roman"/>
                <a:cs typeface="Times New Roman"/>
              </a:rPr>
              <a:t>Offers</a:t>
            </a:r>
            <a:r>
              <a:rPr sz="1800" spc="-50" dirty="0">
                <a:latin typeface="Times New Roman"/>
                <a:cs typeface="Times New Roman"/>
              </a:rPr>
              <a:t> </a:t>
            </a:r>
            <a:r>
              <a:rPr sz="1800" dirty="0">
                <a:latin typeface="Times New Roman"/>
                <a:cs typeface="Times New Roman"/>
              </a:rPr>
              <a:t>a</a:t>
            </a:r>
            <a:r>
              <a:rPr sz="1800" spc="10" dirty="0">
                <a:latin typeface="Times New Roman"/>
                <a:cs typeface="Times New Roman"/>
              </a:rPr>
              <a:t> </a:t>
            </a:r>
            <a:r>
              <a:rPr sz="1800" dirty="0">
                <a:latin typeface="Times New Roman"/>
                <a:cs typeface="Times New Roman"/>
              </a:rPr>
              <a:t>highly</a:t>
            </a:r>
            <a:r>
              <a:rPr sz="1800" spc="-10" dirty="0">
                <a:latin typeface="Times New Roman"/>
                <a:cs typeface="Times New Roman"/>
              </a:rPr>
              <a:t> </a:t>
            </a:r>
            <a:r>
              <a:rPr sz="1800" dirty="0">
                <a:latin typeface="Times New Roman"/>
                <a:cs typeface="Times New Roman"/>
              </a:rPr>
              <a:t>customizable</a:t>
            </a:r>
            <a:r>
              <a:rPr sz="1800" spc="10" dirty="0">
                <a:latin typeface="Times New Roman"/>
                <a:cs typeface="Times New Roman"/>
              </a:rPr>
              <a:t> </a:t>
            </a:r>
            <a:r>
              <a:rPr sz="1800" dirty="0">
                <a:latin typeface="Times New Roman"/>
                <a:cs typeface="Times New Roman"/>
              </a:rPr>
              <a:t>and</a:t>
            </a:r>
            <a:r>
              <a:rPr sz="1800" spc="-10" dirty="0">
                <a:latin typeface="Times New Roman"/>
                <a:cs typeface="Times New Roman"/>
              </a:rPr>
              <a:t> </a:t>
            </a:r>
            <a:r>
              <a:rPr sz="1800" dirty="0">
                <a:latin typeface="Times New Roman"/>
                <a:cs typeface="Times New Roman"/>
              </a:rPr>
              <a:t>responsive</a:t>
            </a:r>
            <a:r>
              <a:rPr sz="1800" spc="10" dirty="0">
                <a:latin typeface="Times New Roman"/>
                <a:cs typeface="Times New Roman"/>
              </a:rPr>
              <a:t> </a:t>
            </a:r>
            <a:r>
              <a:rPr sz="1800" dirty="0">
                <a:latin typeface="Times New Roman"/>
                <a:cs typeface="Times New Roman"/>
              </a:rPr>
              <a:t>design</a:t>
            </a:r>
            <a:r>
              <a:rPr sz="1800" spc="-15" dirty="0">
                <a:latin typeface="Times New Roman"/>
                <a:cs typeface="Times New Roman"/>
              </a:rPr>
              <a:t> </a:t>
            </a:r>
            <a:r>
              <a:rPr sz="1800" dirty="0">
                <a:latin typeface="Times New Roman"/>
                <a:cs typeface="Times New Roman"/>
              </a:rPr>
              <a:t>without</a:t>
            </a:r>
            <a:r>
              <a:rPr sz="1800" spc="15" dirty="0">
                <a:latin typeface="Times New Roman"/>
                <a:cs typeface="Times New Roman"/>
              </a:rPr>
              <a:t> </a:t>
            </a:r>
            <a:r>
              <a:rPr sz="1800" dirty="0">
                <a:latin typeface="Times New Roman"/>
                <a:cs typeface="Times New Roman"/>
              </a:rPr>
              <a:t>writing</a:t>
            </a:r>
            <a:r>
              <a:rPr sz="1800" spc="-15" dirty="0">
                <a:latin typeface="Times New Roman"/>
                <a:cs typeface="Times New Roman"/>
              </a:rPr>
              <a:t> </a:t>
            </a:r>
            <a:r>
              <a:rPr sz="1800" dirty="0">
                <a:latin typeface="Times New Roman"/>
                <a:cs typeface="Times New Roman"/>
              </a:rPr>
              <a:t>extensive</a:t>
            </a:r>
            <a:r>
              <a:rPr sz="1800" spc="15" dirty="0">
                <a:latin typeface="Times New Roman"/>
                <a:cs typeface="Times New Roman"/>
              </a:rPr>
              <a:t> </a:t>
            </a:r>
            <a:r>
              <a:rPr sz="1800" spc="-20" dirty="0">
                <a:latin typeface="Times New Roman"/>
                <a:cs typeface="Times New Roman"/>
              </a:rPr>
              <a:t>CSS.</a:t>
            </a:r>
            <a:endParaRPr sz="1800">
              <a:latin typeface="Times New Roman"/>
              <a:cs typeface="Times New Roman"/>
            </a:endParaRPr>
          </a:p>
          <a:p>
            <a:pPr marL="355600" lvl="1" indent="-342900">
              <a:lnSpc>
                <a:spcPct val="100000"/>
              </a:lnSpc>
              <a:spcBef>
                <a:spcPts val="395"/>
              </a:spcBef>
              <a:buFont typeface="Arial"/>
              <a:buChar char="•"/>
              <a:tabLst>
                <a:tab pos="355600" algn="l"/>
              </a:tabLst>
            </a:pPr>
            <a:r>
              <a:rPr sz="1800" dirty="0">
                <a:latin typeface="Times New Roman"/>
                <a:cs typeface="Times New Roman"/>
              </a:rPr>
              <a:t>Ensures</a:t>
            </a:r>
            <a:r>
              <a:rPr sz="1800" spc="-35" dirty="0">
                <a:latin typeface="Times New Roman"/>
                <a:cs typeface="Times New Roman"/>
              </a:rPr>
              <a:t> </a:t>
            </a:r>
            <a:r>
              <a:rPr sz="1800" dirty="0">
                <a:latin typeface="Times New Roman"/>
                <a:cs typeface="Times New Roman"/>
              </a:rPr>
              <a:t>a</a:t>
            </a:r>
            <a:r>
              <a:rPr sz="1800" spc="25" dirty="0">
                <a:latin typeface="Times New Roman"/>
                <a:cs typeface="Times New Roman"/>
              </a:rPr>
              <a:t> </a:t>
            </a:r>
            <a:r>
              <a:rPr sz="1800" dirty="0">
                <a:latin typeface="Times New Roman"/>
                <a:cs typeface="Times New Roman"/>
              </a:rPr>
              <a:t>modern and visually appealing user </a:t>
            </a:r>
            <a:r>
              <a:rPr sz="1800" spc="-10" dirty="0">
                <a:latin typeface="Times New Roman"/>
                <a:cs typeface="Times New Roman"/>
              </a:rPr>
              <a:t>interface.</a:t>
            </a:r>
            <a:endParaRPr sz="1800">
              <a:latin typeface="Times New Roman"/>
              <a:cs typeface="Times New Roman"/>
            </a:endParaRPr>
          </a:p>
          <a:p>
            <a:pPr>
              <a:lnSpc>
                <a:spcPct val="100000"/>
              </a:lnSpc>
              <a:spcBef>
                <a:spcPts val="480"/>
              </a:spcBef>
            </a:pPr>
            <a:endParaRPr sz="1800">
              <a:latin typeface="Times New Roman"/>
              <a:cs typeface="Times New Roman"/>
            </a:endParaRPr>
          </a:p>
          <a:p>
            <a:pPr marL="12700" marR="6223635" indent="228600">
              <a:lnSpc>
                <a:spcPct val="121700"/>
              </a:lnSpc>
              <a:spcBef>
                <a:spcPts val="5"/>
              </a:spcBef>
              <a:buAutoNum type="arabicPeriod" startAt="2"/>
              <a:tabLst>
                <a:tab pos="241300" algn="l"/>
              </a:tabLst>
            </a:pPr>
            <a:r>
              <a:rPr sz="1800" b="1" dirty="0">
                <a:latin typeface="Times New Roman"/>
                <a:cs typeface="Times New Roman"/>
              </a:rPr>
              <a:t>Backend</a:t>
            </a:r>
            <a:r>
              <a:rPr sz="1800" b="1" spc="-30" dirty="0">
                <a:latin typeface="Times New Roman"/>
                <a:cs typeface="Times New Roman"/>
              </a:rPr>
              <a:t> </a:t>
            </a:r>
            <a:r>
              <a:rPr sz="1800" b="1" spc="-20" dirty="0">
                <a:latin typeface="Times New Roman"/>
                <a:cs typeface="Times New Roman"/>
              </a:rPr>
              <a:t>Technologies </a:t>
            </a:r>
            <a:r>
              <a:rPr sz="1800" b="1" spc="-10" dirty="0">
                <a:latin typeface="Times New Roman"/>
                <a:cs typeface="Times New Roman"/>
              </a:rPr>
              <a:t>Node.js</a:t>
            </a:r>
            <a:endParaRPr sz="1800">
              <a:latin typeface="Times New Roman"/>
              <a:cs typeface="Times New Roman"/>
            </a:endParaRPr>
          </a:p>
          <a:p>
            <a:pPr marL="355600" lvl="1" indent="-342900">
              <a:lnSpc>
                <a:spcPct val="100000"/>
              </a:lnSpc>
              <a:spcBef>
                <a:spcPts val="390"/>
              </a:spcBef>
              <a:buFont typeface="Arial"/>
              <a:buChar char="•"/>
              <a:tabLst>
                <a:tab pos="355600" algn="l"/>
              </a:tabLst>
            </a:pPr>
            <a:r>
              <a:rPr sz="1800" dirty="0">
                <a:latin typeface="Times New Roman"/>
                <a:cs typeface="Times New Roman"/>
              </a:rPr>
              <a:t>A</a:t>
            </a:r>
            <a:r>
              <a:rPr sz="1800" spc="-120" dirty="0">
                <a:latin typeface="Times New Roman"/>
                <a:cs typeface="Times New Roman"/>
              </a:rPr>
              <a:t> </a:t>
            </a:r>
            <a:r>
              <a:rPr sz="1800" dirty="0">
                <a:latin typeface="Times New Roman"/>
                <a:cs typeface="Times New Roman"/>
              </a:rPr>
              <a:t>runtime</a:t>
            </a:r>
            <a:r>
              <a:rPr sz="1800" spc="20" dirty="0">
                <a:latin typeface="Times New Roman"/>
                <a:cs typeface="Times New Roman"/>
              </a:rPr>
              <a:t> </a:t>
            </a:r>
            <a:r>
              <a:rPr sz="1800" dirty="0">
                <a:latin typeface="Times New Roman"/>
                <a:cs typeface="Times New Roman"/>
              </a:rPr>
              <a:t>environment</a:t>
            </a:r>
            <a:r>
              <a:rPr sz="1800" spc="20" dirty="0">
                <a:latin typeface="Times New Roman"/>
                <a:cs typeface="Times New Roman"/>
              </a:rPr>
              <a:t> </a:t>
            </a:r>
            <a:r>
              <a:rPr sz="1800" dirty="0">
                <a:latin typeface="Times New Roman"/>
                <a:cs typeface="Times New Roman"/>
              </a:rPr>
              <a:t>that</a:t>
            </a:r>
            <a:r>
              <a:rPr sz="1800" spc="15" dirty="0">
                <a:latin typeface="Times New Roman"/>
                <a:cs typeface="Times New Roman"/>
              </a:rPr>
              <a:t> </a:t>
            </a:r>
            <a:r>
              <a:rPr sz="1800" dirty="0">
                <a:latin typeface="Times New Roman"/>
                <a:cs typeface="Times New Roman"/>
              </a:rPr>
              <a:t>enables</a:t>
            </a:r>
            <a:r>
              <a:rPr sz="1800" spc="-30" dirty="0">
                <a:latin typeface="Times New Roman"/>
                <a:cs typeface="Times New Roman"/>
              </a:rPr>
              <a:t> </a:t>
            </a:r>
            <a:r>
              <a:rPr sz="1800" spc="-20" dirty="0">
                <a:latin typeface="Times New Roman"/>
                <a:cs typeface="Times New Roman"/>
              </a:rPr>
              <a:t>server-</a:t>
            </a:r>
            <a:r>
              <a:rPr sz="1800" dirty="0">
                <a:latin typeface="Times New Roman"/>
                <a:cs typeface="Times New Roman"/>
              </a:rPr>
              <a:t>side</a:t>
            </a:r>
            <a:r>
              <a:rPr sz="1800" spc="10" dirty="0">
                <a:latin typeface="Times New Roman"/>
                <a:cs typeface="Times New Roman"/>
              </a:rPr>
              <a:t> </a:t>
            </a:r>
            <a:r>
              <a:rPr sz="1800" dirty="0">
                <a:latin typeface="Times New Roman"/>
                <a:cs typeface="Times New Roman"/>
              </a:rPr>
              <a:t>execution</a:t>
            </a:r>
            <a:r>
              <a:rPr sz="1800" spc="-5" dirty="0">
                <a:latin typeface="Times New Roman"/>
                <a:cs typeface="Times New Roman"/>
              </a:rPr>
              <a:t> </a:t>
            </a:r>
            <a:r>
              <a:rPr sz="1800" dirty="0">
                <a:latin typeface="Times New Roman"/>
                <a:cs typeface="Times New Roman"/>
              </a:rPr>
              <a:t>of</a:t>
            </a:r>
            <a:r>
              <a:rPr sz="1800" spc="-5" dirty="0">
                <a:latin typeface="Times New Roman"/>
                <a:cs typeface="Times New Roman"/>
              </a:rPr>
              <a:t> </a:t>
            </a:r>
            <a:r>
              <a:rPr sz="1800" spc="-10" dirty="0">
                <a:latin typeface="Times New Roman"/>
                <a:cs typeface="Times New Roman"/>
              </a:rPr>
              <a:t>JavaScript.</a:t>
            </a:r>
            <a:endParaRPr sz="1800">
              <a:latin typeface="Times New Roman"/>
              <a:cs typeface="Times New Roman"/>
            </a:endParaRPr>
          </a:p>
          <a:p>
            <a:pPr marL="355600" marR="156845" lvl="1" indent="-343535">
              <a:lnSpc>
                <a:spcPct val="100800"/>
              </a:lnSpc>
              <a:spcBef>
                <a:spcPts val="455"/>
              </a:spcBef>
              <a:buFont typeface="Arial"/>
              <a:buChar char="•"/>
              <a:tabLst>
                <a:tab pos="355600" algn="l"/>
              </a:tabLst>
            </a:pPr>
            <a:r>
              <a:rPr sz="1800" dirty="0">
                <a:latin typeface="Times New Roman"/>
                <a:cs typeface="Times New Roman"/>
              </a:rPr>
              <a:t>Handles</a:t>
            </a:r>
            <a:r>
              <a:rPr sz="1800" spc="20" dirty="0">
                <a:latin typeface="Times New Roman"/>
                <a:cs typeface="Times New Roman"/>
              </a:rPr>
              <a:t> </a:t>
            </a:r>
            <a:r>
              <a:rPr sz="1800" dirty="0">
                <a:latin typeface="Times New Roman"/>
                <a:cs typeface="Times New Roman"/>
              </a:rPr>
              <a:t>multiple</a:t>
            </a:r>
            <a:r>
              <a:rPr sz="1800" spc="15" dirty="0">
                <a:latin typeface="Times New Roman"/>
                <a:cs typeface="Times New Roman"/>
              </a:rPr>
              <a:t> </a:t>
            </a:r>
            <a:r>
              <a:rPr sz="1800" dirty="0">
                <a:latin typeface="Times New Roman"/>
                <a:cs typeface="Times New Roman"/>
              </a:rPr>
              <a:t>simultaneous</a:t>
            </a:r>
            <a:r>
              <a:rPr sz="1800" spc="-30" dirty="0">
                <a:latin typeface="Times New Roman"/>
                <a:cs typeface="Times New Roman"/>
              </a:rPr>
              <a:t> </a:t>
            </a:r>
            <a:r>
              <a:rPr sz="1800" dirty="0">
                <a:latin typeface="Times New Roman"/>
                <a:cs typeface="Times New Roman"/>
              </a:rPr>
              <a:t>requests</a:t>
            </a:r>
            <a:r>
              <a:rPr sz="1800" spc="-35" dirty="0">
                <a:latin typeface="Times New Roman"/>
                <a:cs typeface="Times New Roman"/>
              </a:rPr>
              <a:t> </a:t>
            </a:r>
            <a:r>
              <a:rPr sz="1800" dirty="0">
                <a:latin typeface="Times New Roman"/>
                <a:cs typeface="Times New Roman"/>
              </a:rPr>
              <a:t>efficiently</a:t>
            </a:r>
            <a:r>
              <a:rPr sz="1800" spc="-10" dirty="0">
                <a:latin typeface="Times New Roman"/>
                <a:cs typeface="Times New Roman"/>
              </a:rPr>
              <a:t> </a:t>
            </a:r>
            <a:r>
              <a:rPr sz="1800" dirty="0">
                <a:latin typeface="Times New Roman"/>
                <a:cs typeface="Times New Roman"/>
              </a:rPr>
              <a:t>using</a:t>
            </a:r>
            <a:r>
              <a:rPr sz="1800" spc="-10" dirty="0">
                <a:latin typeface="Times New Roman"/>
                <a:cs typeface="Times New Roman"/>
              </a:rPr>
              <a:t> </a:t>
            </a:r>
            <a:r>
              <a:rPr sz="1800" dirty="0">
                <a:latin typeface="Times New Roman"/>
                <a:cs typeface="Times New Roman"/>
              </a:rPr>
              <a:t>an</a:t>
            </a:r>
            <a:r>
              <a:rPr sz="1800" spc="-10" dirty="0">
                <a:latin typeface="Times New Roman"/>
                <a:cs typeface="Times New Roman"/>
              </a:rPr>
              <a:t> </a:t>
            </a:r>
            <a:r>
              <a:rPr sz="1800" dirty="0">
                <a:latin typeface="Times New Roman"/>
                <a:cs typeface="Times New Roman"/>
              </a:rPr>
              <a:t>asynchronous,</a:t>
            </a:r>
            <a:r>
              <a:rPr sz="1800" spc="-5" dirty="0">
                <a:latin typeface="Times New Roman"/>
                <a:cs typeface="Times New Roman"/>
              </a:rPr>
              <a:t> </a:t>
            </a:r>
            <a:r>
              <a:rPr sz="1800" spc="-25" dirty="0">
                <a:latin typeface="Times New Roman"/>
                <a:cs typeface="Times New Roman"/>
              </a:rPr>
              <a:t>non-</a:t>
            </a:r>
            <a:r>
              <a:rPr sz="1800" spc="-10" dirty="0">
                <a:latin typeface="Times New Roman"/>
                <a:cs typeface="Times New Roman"/>
              </a:rPr>
              <a:t>blocking architecture.</a:t>
            </a:r>
            <a:endParaRPr sz="1800">
              <a:latin typeface="Times New Roman"/>
              <a:cs typeface="Times New Roman"/>
            </a:endParaRPr>
          </a:p>
          <a:p>
            <a:pPr marL="355600" marR="5080" lvl="1" indent="-343535">
              <a:lnSpc>
                <a:spcPct val="100800"/>
              </a:lnSpc>
              <a:spcBef>
                <a:spcPts val="375"/>
              </a:spcBef>
              <a:buFont typeface="Arial"/>
              <a:buChar char="•"/>
              <a:tabLst>
                <a:tab pos="355600" algn="l"/>
              </a:tabLst>
            </a:pPr>
            <a:r>
              <a:rPr sz="1800" dirty="0">
                <a:latin typeface="Times New Roman"/>
                <a:cs typeface="Times New Roman"/>
              </a:rPr>
              <a:t>Facilitates</a:t>
            </a:r>
            <a:r>
              <a:rPr sz="1800" spc="35" dirty="0">
                <a:latin typeface="Times New Roman"/>
                <a:cs typeface="Times New Roman"/>
              </a:rPr>
              <a:t> </a:t>
            </a:r>
            <a:r>
              <a:rPr sz="1800" dirty="0">
                <a:latin typeface="Times New Roman"/>
                <a:cs typeface="Times New Roman"/>
              </a:rPr>
              <a:t>seamless</a:t>
            </a:r>
            <a:r>
              <a:rPr sz="1800" spc="-25" dirty="0">
                <a:latin typeface="Times New Roman"/>
                <a:cs typeface="Times New Roman"/>
              </a:rPr>
              <a:t> </a:t>
            </a:r>
            <a:r>
              <a:rPr sz="1800" dirty="0">
                <a:latin typeface="Times New Roman"/>
                <a:cs typeface="Times New Roman"/>
              </a:rPr>
              <a:t>integration between the</a:t>
            </a:r>
            <a:r>
              <a:rPr sz="1800" spc="-50" dirty="0">
                <a:latin typeface="Times New Roman"/>
                <a:cs typeface="Times New Roman"/>
              </a:rPr>
              <a:t> </a:t>
            </a:r>
            <a:r>
              <a:rPr sz="1800" dirty="0">
                <a:latin typeface="Times New Roman"/>
                <a:cs typeface="Times New Roman"/>
              </a:rPr>
              <a:t>frontend</a:t>
            </a:r>
            <a:r>
              <a:rPr sz="1800" spc="5" dirty="0">
                <a:latin typeface="Times New Roman"/>
                <a:cs typeface="Times New Roman"/>
              </a:rPr>
              <a:t> </a:t>
            </a:r>
            <a:r>
              <a:rPr sz="1800" dirty="0">
                <a:latin typeface="Times New Roman"/>
                <a:cs typeface="Times New Roman"/>
              </a:rPr>
              <a:t>and backend using a</a:t>
            </a:r>
            <a:r>
              <a:rPr sz="1800" spc="30" dirty="0">
                <a:latin typeface="Times New Roman"/>
                <a:cs typeface="Times New Roman"/>
              </a:rPr>
              <a:t> </a:t>
            </a:r>
            <a:r>
              <a:rPr sz="1800" dirty="0">
                <a:latin typeface="Times New Roman"/>
                <a:cs typeface="Times New Roman"/>
              </a:rPr>
              <a:t>single</a:t>
            </a:r>
            <a:r>
              <a:rPr sz="1800" spc="-45" dirty="0">
                <a:latin typeface="Times New Roman"/>
                <a:cs typeface="Times New Roman"/>
              </a:rPr>
              <a:t> </a:t>
            </a:r>
            <a:r>
              <a:rPr sz="1800" spc="-10" dirty="0">
                <a:latin typeface="Times New Roman"/>
                <a:cs typeface="Times New Roman"/>
              </a:rPr>
              <a:t>language (JavaScript).</a:t>
            </a:r>
            <a:endParaRPr sz="1800">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739" y="1126172"/>
            <a:ext cx="8515350" cy="3716402"/>
          </a:xfrm>
          <a:prstGeom prst="rect">
            <a:avLst/>
          </a:prstGeom>
        </p:spPr>
        <p:txBody>
          <a:bodyPr vert="horz" wrap="square" lIns="0" tIns="72390" rIns="0" bIns="0" rtlCol="0">
            <a:spAutoFit/>
          </a:bodyPr>
          <a:lstStyle/>
          <a:p>
            <a:pPr marL="12700">
              <a:lnSpc>
                <a:spcPct val="100000"/>
              </a:lnSpc>
              <a:spcBef>
                <a:spcPts val="570"/>
              </a:spcBef>
            </a:pPr>
            <a:r>
              <a:rPr sz="1800" b="1" spc="-10" dirty="0">
                <a:latin typeface="Times New Roman"/>
                <a:cs typeface="Times New Roman"/>
              </a:rPr>
              <a:t>Express.js</a:t>
            </a:r>
            <a:endParaRPr sz="1800">
              <a:latin typeface="Times New Roman"/>
              <a:cs typeface="Times New Roman"/>
            </a:endParaRPr>
          </a:p>
          <a:p>
            <a:pPr marL="355600" indent="-342900">
              <a:lnSpc>
                <a:spcPct val="100000"/>
              </a:lnSpc>
              <a:spcBef>
                <a:spcPts val="470"/>
              </a:spcBef>
              <a:buFont typeface="Arial"/>
              <a:buChar char="•"/>
              <a:tabLst>
                <a:tab pos="355600" algn="l"/>
              </a:tabLst>
            </a:pPr>
            <a:r>
              <a:rPr sz="1800" dirty="0">
                <a:latin typeface="Times New Roman"/>
                <a:cs typeface="Times New Roman"/>
              </a:rPr>
              <a:t>A</a:t>
            </a:r>
            <a:r>
              <a:rPr sz="1800" spc="-114" dirty="0">
                <a:latin typeface="Times New Roman"/>
                <a:cs typeface="Times New Roman"/>
              </a:rPr>
              <a:t> </a:t>
            </a:r>
            <a:r>
              <a:rPr sz="1800" dirty="0">
                <a:latin typeface="Times New Roman"/>
                <a:cs typeface="Times New Roman"/>
              </a:rPr>
              <a:t>lightweight</a:t>
            </a:r>
            <a:r>
              <a:rPr sz="1800" spc="-55" dirty="0">
                <a:latin typeface="Times New Roman"/>
                <a:cs typeface="Times New Roman"/>
              </a:rPr>
              <a:t> </a:t>
            </a:r>
            <a:r>
              <a:rPr sz="1800" dirty="0">
                <a:latin typeface="Times New Roman"/>
                <a:cs typeface="Times New Roman"/>
              </a:rPr>
              <a:t>web framework for Node.js</a:t>
            </a:r>
            <a:r>
              <a:rPr sz="1800" spc="40" dirty="0">
                <a:latin typeface="Times New Roman"/>
                <a:cs typeface="Times New Roman"/>
              </a:rPr>
              <a:t> </a:t>
            </a:r>
            <a:r>
              <a:rPr sz="1800" dirty="0">
                <a:latin typeface="Times New Roman"/>
                <a:cs typeface="Times New Roman"/>
              </a:rPr>
              <a:t>used</a:t>
            </a:r>
            <a:r>
              <a:rPr sz="1800" spc="-5" dirty="0">
                <a:latin typeface="Times New Roman"/>
                <a:cs typeface="Times New Roman"/>
              </a:rPr>
              <a:t> </a:t>
            </a:r>
            <a:r>
              <a:rPr sz="1800" dirty="0">
                <a:latin typeface="Times New Roman"/>
                <a:cs typeface="Times New Roman"/>
              </a:rPr>
              <a:t>to build</a:t>
            </a:r>
            <a:r>
              <a:rPr sz="1800" spc="-5" dirty="0">
                <a:latin typeface="Times New Roman"/>
                <a:cs typeface="Times New Roman"/>
              </a:rPr>
              <a:t> </a:t>
            </a:r>
            <a:r>
              <a:rPr sz="1800" dirty="0">
                <a:latin typeface="Times New Roman"/>
                <a:cs typeface="Times New Roman"/>
              </a:rPr>
              <a:t>RESTful</a:t>
            </a:r>
            <a:r>
              <a:rPr sz="1800" spc="-45" dirty="0">
                <a:latin typeface="Times New Roman"/>
                <a:cs typeface="Times New Roman"/>
              </a:rPr>
              <a:t> </a:t>
            </a:r>
            <a:r>
              <a:rPr sz="1800" spc="-10" dirty="0">
                <a:latin typeface="Times New Roman"/>
                <a:cs typeface="Times New Roman"/>
              </a:rPr>
              <a:t>APIs.</a:t>
            </a:r>
            <a:endParaRPr sz="1800">
              <a:latin typeface="Times New Roman"/>
              <a:cs typeface="Times New Roman"/>
            </a:endParaRPr>
          </a:p>
          <a:p>
            <a:pPr marL="355600" indent="-342900">
              <a:lnSpc>
                <a:spcPct val="100000"/>
              </a:lnSpc>
              <a:spcBef>
                <a:spcPts val="390"/>
              </a:spcBef>
              <a:buFont typeface="Arial"/>
              <a:buChar char="•"/>
              <a:tabLst>
                <a:tab pos="355600" algn="l"/>
              </a:tabLst>
            </a:pPr>
            <a:r>
              <a:rPr sz="1800" dirty="0">
                <a:latin typeface="Times New Roman"/>
                <a:cs typeface="Times New Roman"/>
              </a:rPr>
              <a:t>Simplifies</a:t>
            </a:r>
            <a:r>
              <a:rPr sz="1800" spc="35" dirty="0">
                <a:latin typeface="Times New Roman"/>
                <a:cs typeface="Times New Roman"/>
              </a:rPr>
              <a:t> </a:t>
            </a:r>
            <a:r>
              <a:rPr sz="1800" dirty="0">
                <a:latin typeface="Times New Roman"/>
                <a:cs typeface="Times New Roman"/>
              </a:rPr>
              <a:t>backend</a:t>
            </a:r>
            <a:r>
              <a:rPr sz="1800" spc="-10" dirty="0">
                <a:latin typeface="Times New Roman"/>
                <a:cs typeface="Times New Roman"/>
              </a:rPr>
              <a:t> </a:t>
            </a:r>
            <a:r>
              <a:rPr sz="1800" dirty="0">
                <a:latin typeface="Times New Roman"/>
                <a:cs typeface="Times New Roman"/>
              </a:rPr>
              <a:t>development</a:t>
            </a:r>
            <a:r>
              <a:rPr sz="1800" spc="15" dirty="0">
                <a:latin typeface="Times New Roman"/>
                <a:cs typeface="Times New Roman"/>
              </a:rPr>
              <a:t> </a:t>
            </a:r>
            <a:r>
              <a:rPr sz="1800" dirty="0">
                <a:latin typeface="Times New Roman"/>
                <a:cs typeface="Times New Roman"/>
              </a:rPr>
              <a:t>by</a:t>
            </a:r>
            <a:r>
              <a:rPr sz="1800" spc="-10" dirty="0">
                <a:latin typeface="Times New Roman"/>
                <a:cs typeface="Times New Roman"/>
              </a:rPr>
              <a:t> </a:t>
            </a:r>
            <a:r>
              <a:rPr sz="1800" dirty="0">
                <a:latin typeface="Times New Roman"/>
                <a:cs typeface="Times New Roman"/>
              </a:rPr>
              <a:t>providing</a:t>
            </a:r>
            <a:r>
              <a:rPr sz="1800" spc="-10" dirty="0">
                <a:latin typeface="Times New Roman"/>
                <a:cs typeface="Times New Roman"/>
              </a:rPr>
              <a:t> </a:t>
            </a:r>
            <a:r>
              <a:rPr sz="1800" dirty="0">
                <a:latin typeface="Times New Roman"/>
                <a:cs typeface="Times New Roman"/>
              </a:rPr>
              <a:t>robust</a:t>
            </a:r>
            <a:r>
              <a:rPr sz="1800" spc="20" dirty="0">
                <a:latin typeface="Times New Roman"/>
                <a:cs typeface="Times New Roman"/>
              </a:rPr>
              <a:t> </a:t>
            </a:r>
            <a:r>
              <a:rPr sz="1800" dirty="0">
                <a:latin typeface="Times New Roman"/>
                <a:cs typeface="Times New Roman"/>
              </a:rPr>
              <a:t>routing</a:t>
            </a:r>
            <a:r>
              <a:rPr sz="1800" spc="-10" dirty="0">
                <a:latin typeface="Times New Roman"/>
                <a:cs typeface="Times New Roman"/>
              </a:rPr>
              <a:t> </a:t>
            </a:r>
            <a:r>
              <a:rPr sz="1800" dirty="0">
                <a:latin typeface="Times New Roman"/>
                <a:cs typeface="Times New Roman"/>
              </a:rPr>
              <a:t>and</a:t>
            </a:r>
            <a:r>
              <a:rPr sz="1800" spc="-10" dirty="0">
                <a:latin typeface="Times New Roman"/>
                <a:cs typeface="Times New Roman"/>
              </a:rPr>
              <a:t> </a:t>
            </a:r>
            <a:r>
              <a:rPr sz="1800" dirty="0">
                <a:latin typeface="Times New Roman"/>
                <a:cs typeface="Times New Roman"/>
              </a:rPr>
              <a:t>middleware</a:t>
            </a:r>
            <a:r>
              <a:rPr sz="1800" spc="-50" dirty="0">
                <a:latin typeface="Times New Roman"/>
                <a:cs typeface="Times New Roman"/>
              </a:rPr>
              <a:t> </a:t>
            </a:r>
            <a:r>
              <a:rPr sz="1800" spc="-10" dirty="0">
                <a:latin typeface="Times New Roman"/>
                <a:cs typeface="Times New Roman"/>
              </a:rPr>
              <a:t>support.</a:t>
            </a:r>
            <a:endParaRPr sz="1800">
              <a:latin typeface="Times New Roman"/>
              <a:cs typeface="Times New Roman"/>
            </a:endParaRPr>
          </a:p>
          <a:p>
            <a:pPr marL="355600" indent="-342900">
              <a:lnSpc>
                <a:spcPct val="100000"/>
              </a:lnSpc>
              <a:spcBef>
                <a:spcPts val="470"/>
              </a:spcBef>
              <a:buFont typeface="Arial"/>
              <a:buChar char="•"/>
              <a:tabLst>
                <a:tab pos="355600" algn="l"/>
              </a:tabLst>
            </a:pPr>
            <a:r>
              <a:rPr sz="1800" dirty="0">
                <a:latin typeface="Times New Roman"/>
                <a:cs typeface="Times New Roman"/>
              </a:rPr>
              <a:t>Ensures</a:t>
            </a:r>
            <a:r>
              <a:rPr sz="1800" spc="-15" dirty="0">
                <a:latin typeface="Times New Roman"/>
                <a:cs typeface="Times New Roman"/>
              </a:rPr>
              <a:t> </a:t>
            </a:r>
            <a:r>
              <a:rPr sz="1800" dirty="0">
                <a:latin typeface="Times New Roman"/>
                <a:cs typeface="Times New Roman"/>
              </a:rPr>
              <a:t>secure</a:t>
            </a:r>
            <a:r>
              <a:rPr sz="1800" spc="-25" dirty="0">
                <a:latin typeface="Times New Roman"/>
                <a:cs typeface="Times New Roman"/>
              </a:rPr>
              <a:t> </a:t>
            </a:r>
            <a:r>
              <a:rPr sz="1800" dirty="0">
                <a:latin typeface="Times New Roman"/>
                <a:cs typeface="Times New Roman"/>
              </a:rPr>
              <a:t>data</a:t>
            </a:r>
            <a:r>
              <a:rPr sz="1800" spc="-30" dirty="0">
                <a:latin typeface="Times New Roman"/>
                <a:cs typeface="Times New Roman"/>
              </a:rPr>
              <a:t> </a:t>
            </a:r>
            <a:r>
              <a:rPr sz="1800" dirty="0">
                <a:latin typeface="Times New Roman"/>
                <a:cs typeface="Times New Roman"/>
              </a:rPr>
              <a:t>handling</a:t>
            </a:r>
            <a:r>
              <a:rPr sz="1800" spc="20" dirty="0">
                <a:latin typeface="Times New Roman"/>
                <a:cs typeface="Times New Roman"/>
              </a:rPr>
              <a:t> </a:t>
            </a:r>
            <a:r>
              <a:rPr sz="1800" dirty="0">
                <a:latin typeface="Times New Roman"/>
                <a:cs typeface="Times New Roman"/>
              </a:rPr>
              <a:t>and</a:t>
            </a:r>
            <a:r>
              <a:rPr sz="1800" spc="25" dirty="0">
                <a:latin typeface="Times New Roman"/>
                <a:cs typeface="Times New Roman"/>
              </a:rPr>
              <a:t> </a:t>
            </a:r>
            <a:r>
              <a:rPr sz="1800" dirty="0">
                <a:latin typeface="Times New Roman"/>
                <a:cs typeface="Times New Roman"/>
              </a:rPr>
              <a:t>authentication</a:t>
            </a:r>
            <a:r>
              <a:rPr sz="1800" spc="25" dirty="0">
                <a:latin typeface="Times New Roman"/>
                <a:cs typeface="Times New Roman"/>
              </a:rPr>
              <a:t> </a:t>
            </a:r>
            <a:r>
              <a:rPr sz="1800" spc="-10" dirty="0">
                <a:latin typeface="Times New Roman"/>
                <a:cs typeface="Times New Roman"/>
              </a:rPr>
              <a:t>processes.</a:t>
            </a:r>
            <a:endParaRPr sz="1800">
              <a:latin typeface="Times New Roman"/>
              <a:cs typeface="Times New Roman"/>
            </a:endParaRPr>
          </a:p>
          <a:p>
            <a:pPr>
              <a:lnSpc>
                <a:spcPct val="100000"/>
              </a:lnSpc>
              <a:spcBef>
                <a:spcPts val="480"/>
              </a:spcBef>
            </a:pPr>
            <a:endParaRPr sz="1800">
              <a:latin typeface="Times New Roman"/>
              <a:cs typeface="Times New Roman"/>
            </a:endParaRPr>
          </a:p>
          <a:p>
            <a:pPr marL="12700" marR="6021070" indent="228600">
              <a:lnSpc>
                <a:spcPct val="121800"/>
              </a:lnSpc>
              <a:buAutoNum type="arabicPeriod" startAt="3"/>
              <a:tabLst>
                <a:tab pos="241300" algn="l"/>
              </a:tabLst>
            </a:pPr>
            <a:r>
              <a:rPr sz="1800" b="1" dirty="0">
                <a:latin typeface="Times New Roman"/>
                <a:cs typeface="Times New Roman"/>
              </a:rPr>
              <a:t>Database</a:t>
            </a:r>
            <a:r>
              <a:rPr sz="1800" b="1" spc="10" dirty="0">
                <a:latin typeface="Times New Roman"/>
                <a:cs typeface="Times New Roman"/>
              </a:rPr>
              <a:t> </a:t>
            </a:r>
            <a:r>
              <a:rPr sz="1800" b="1" spc="-10" dirty="0">
                <a:latin typeface="Times New Roman"/>
                <a:cs typeface="Times New Roman"/>
              </a:rPr>
              <a:t>Management MongoDB</a:t>
            </a:r>
            <a:endParaRPr sz="1800">
              <a:latin typeface="Times New Roman"/>
              <a:cs typeface="Times New Roman"/>
            </a:endParaRPr>
          </a:p>
          <a:p>
            <a:pPr marL="355600" lvl="1" indent="-342900">
              <a:lnSpc>
                <a:spcPct val="100000"/>
              </a:lnSpc>
              <a:spcBef>
                <a:spcPts val="390"/>
              </a:spcBef>
              <a:buFont typeface="Arial"/>
              <a:buChar char="•"/>
              <a:tabLst>
                <a:tab pos="355600" algn="l"/>
              </a:tabLst>
            </a:pPr>
            <a:r>
              <a:rPr sz="1800" dirty="0">
                <a:latin typeface="Times New Roman"/>
                <a:cs typeface="Times New Roman"/>
              </a:rPr>
              <a:t>A</a:t>
            </a:r>
            <a:r>
              <a:rPr sz="1800" spc="-105" dirty="0">
                <a:latin typeface="Times New Roman"/>
                <a:cs typeface="Times New Roman"/>
              </a:rPr>
              <a:t> </a:t>
            </a:r>
            <a:r>
              <a:rPr sz="1800" dirty="0">
                <a:latin typeface="Times New Roman"/>
                <a:cs typeface="Times New Roman"/>
              </a:rPr>
              <a:t>NoSQL</a:t>
            </a:r>
            <a:r>
              <a:rPr sz="1800" spc="-40" dirty="0">
                <a:latin typeface="Times New Roman"/>
                <a:cs typeface="Times New Roman"/>
              </a:rPr>
              <a:t> </a:t>
            </a:r>
            <a:r>
              <a:rPr sz="1800" dirty="0">
                <a:latin typeface="Times New Roman"/>
                <a:cs typeface="Times New Roman"/>
              </a:rPr>
              <a:t>database</a:t>
            </a:r>
            <a:r>
              <a:rPr sz="1800" spc="-40" dirty="0">
                <a:latin typeface="Times New Roman"/>
                <a:cs typeface="Times New Roman"/>
              </a:rPr>
              <a:t> </a:t>
            </a:r>
            <a:r>
              <a:rPr sz="1800" dirty="0">
                <a:latin typeface="Times New Roman"/>
                <a:cs typeface="Times New Roman"/>
              </a:rPr>
              <a:t>that</a:t>
            </a:r>
            <a:r>
              <a:rPr sz="1800" spc="-40" dirty="0">
                <a:latin typeface="Times New Roman"/>
                <a:cs typeface="Times New Roman"/>
              </a:rPr>
              <a:t> </a:t>
            </a:r>
            <a:r>
              <a:rPr sz="1800" dirty="0">
                <a:latin typeface="Times New Roman"/>
                <a:cs typeface="Times New Roman"/>
              </a:rPr>
              <a:t>stores</a:t>
            </a:r>
            <a:r>
              <a:rPr sz="1800" spc="-15" dirty="0">
                <a:latin typeface="Times New Roman"/>
                <a:cs typeface="Times New Roman"/>
              </a:rPr>
              <a:t> </a:t>
            </a:r>
            <a:r>
              <a:rPr sz="1800" dirty="0">
                <a:latin typeface="Times New Roman"/>
                <a:cs typeface="Times New Roman"/>
              </a:rPr>
              <a:t>data</a:t>
            </a:r>
            <a:r>
              <a:rPr sz="1800" spc="-40" dirty="0">
                <a:latin typeface="Times New Roman"/>
                <a:cs typeface="Times New Roman"/>
              </a:rPr>
              <a:t> </a:t>
            </a:r>
            <a:r>
              <a:rPr sz="1800" dirty="0">
                <a:latin typeface="Times New Roman"/>
                <a:cs typeface="Times New Roman"/>
              </a:rPr>
              <a:t>in</a:t>
            </a:r>
            <a:r>
              <a:rPr sz="1800" spc="10" dirty="0">
                <a:latin typeface="Times New Roman"/>
                <a:cs typeface="Times New Roman"/>
              </a:rPr>
              <a:t> </a:t>
            </a:r>
            <a:r>
              <a:rPr sz="1800" dirty="0">
                <a:latin typeface="Times New Roman"/>
                <a:cs typeface="Times New Roman"/>
              </a:rPr>
              <a:t>a</a:t>
            </a:r>
            <a:r>
              <a:rPr sz="1800" spc="35" dirty="0">
                <a:latin typeface="Times New Roman"/>
                <a:cs typeface="Times New Roman"/>
              </a:rPr>
              <a:t> </a:t>
            </a:r>
            <a:r>
              <a:rPr sz="1800" dirty="0">
                <a:latin typeface="Times New Roman"/>
                <a:cs typeface="Times New Roman"/>
              </a:rPr>
              <a:t>flexible</a:t>
            </a:r>
            <a:r>
              <a:rPr sz="1800" spc="35" dirty="0">
                <a:latin typeface="Times New Roman"/>
                <a:cs typeface="Times New Roman"/>
              </a:rPr>
              <a:t> </a:t>
            </a:r>
            <a:r>
              <a:rPr sz="1800" spc="-20" dirty="0">
                <a:latin typeface="Times New Roman"/>
                <a:cs typeface="Times New Roman"/>
              </a:rPr>
              <a:t>JSON-</a:t>
            </a:r>
            <a:r>
              <a:rPr sz="1800" dirty="0">
                <a:latin typeface="Times New Roman"/>
                <a:cs typeface="Times New Roman"/>
              </a:rPr>
              <a:t>like</a:t>
            </a:r>
            <a:r>
              <a:rPr sz="1800" spc="35" dirty="0">
                <a:latin typeface="Times New Roman"/>
                <a:cs typeface="Times New Roman"/>
              </a:rPr>
              <a:t> </a:t>
            </a:r>
            <a:r>
              <a:rPr sz="1800" spc="-10" dirty="0">
                <a:latin typeface="Times New Roman"/>
                <a:cs typeface="Times New Roman"/>
              </a:rPr>
              <a:t>format.</a:t>
            </a:r>
            <a:endParaRPr sz="1800">
              <a:latin typeface="Times New Roman"/>
              <a:cs typeface="Times New Roman"/>
            </a:endParaRPr>
          </a:p>
          <a:p>
            <a:pPr marL="355600" lvl="1" indent="-342900">
              <a:lnSpc>
                <a:spcPct val="100000"/>
              </a:lnSpc>
              <a:spcBef>
                <a:spcPts val="475"/>
              </a:spcBef>
              <a:buFont typeface="Arial"/>
              <a:buChar char="•"/>
              <a:tabLst>
                <a:tab pos="355600" algn="l"/>
              </a:tabLst>
            </a:pPr>
            <a:r>
              <a:rPr sz="1800" dirty="0">
                <a:latin typeface="Times New Roman"/>
                <a:cs typeface="Times New Roman"/>
              </a:rPr>
              <a:t>Provides</a:t>
            </a:r>
            <a:r>
              <a:rPr sz="1800" spc="-35" dirty="0">
                <a:latin typeface="Times New Roman"/>
                <a:cs typeface="Times New Roman"/>
              </a:rPr>
              <a:t> </a:t>
            </a:r>
            <a:r>
              <a:rPr sz="1800" dirty="0">
                <a:latin typeface="Times New Roman"/>
                <a:cs typeface="Times New Roman"/>
              </a:rPr>
              <a:t>high scalability</a:t>
            </a:r>
            <a:r>
              <a:rPr sz="1800" spc="5" dirty="0">
                <a:latin typeface="Times New Roman"/>
                <a:cs typeface="Times New Roman"/>
              </a:rPr>
              <a:t> </a:t>
            </a:r>
            <a:r>
              <a:rPr sz="1800" dirty="0">
                <a:latin typeface="Times New Roman"/>
                <a:cs typeface="Times New Roman"/>
              </a:rPr>
              <a:t>and performance</a:t>
            </a:r>
            <a:r>
              <a:rPr sz="1800" spc="-50" dirty="0">
                <a:latin typeface="Times New Roman"/>
                <a:cs typeface="Times New Roman"/>
              </a:rPr>
              <a:t> </a:t>
            </a:r>
            <a:r>
              <a:rPr sz="1800" dirty="0">
                <a:latin typeface="Times New Roman"/>
                <a:cs typeface="Times New Roman"/>
              </a:rPr>
              <a:t>for</a:t>
            </a:r>
            <a:r>
              <a:rPr sz="1800" spc="10" dirty="0">
                <a:latin typeface="Times New Roman"/>
                <a:cs typeface="Times New Roman"/>
              </a:rPr>
              <a:t> </a:t>
            </a:r>
            <a:r>
              <a:rPr sz="1800" dirty="0">
                <a:latin typeface="Times New Roman"/>
                <a:cs typeface="Times New Roman"/>
              </a:rPr>
              <a:t>handling large</a:t>
            </a:r>
            <a:r>
              <a:rPr sz="1800" spc="25" dirty="0">
                <a:latin typeface="Times New Roman"/>
                <a:cs typeface="Times New Roman"/>
              </a:rPr>
              <a:t> </a:t>
            </a:r>
            <a:r>
              <a:rPr sz="1800" dirty="0">
                <a:latin typeface="Times New Roman"/>
                <a:cs typeface="Times New Roman"/>
              </a:rPr>
              <a:t>volumes</a:t>
            </a:r>
            <a:r>
              <a:rPr sz="1800" spc="-20" dirty="0">
                <a:latin typeface="Times New Roman"/>
                <a:cs typeface="Times New Roman"/>
              </a:rPr>
              <a:t> </a:t>
            </a:r>
            <a:r>
              <a:rPr sz="1800" dirty="0">
                <a:latin typeface="Times New Roman"/>
                <a:cs typeface="Times New Roman"/>
              </a:rPr>
              <a:t>of</a:t>
            </a:r>
            <a:r>
              <a:rPr sz="1800" spc="5" dirty="0">
                <a:latin typeface="Times New Roman"/>
                <a:cs typeface="Times New Roman"/>
              </a:rPr>
              <a:t> </a:t>
            </a:r>
            <a:r>
              <a:rPr sz="1800" dirty="0">
                <a:latin typeface="Times New Roman"/>
                <a:cs typeface="Times New Roman"/>
              </a:rPr>
              <a:t>healthcare</a:t>
            </a:r>
            <a:r>
              <a:rPr sz="1800" spc="30" dirty="0">
                <a:latin typeface="Times New Roman"/>
                <a:cs typeface="Times New Roman"/>
              </a:rPr>
              <a:t> </a:t>
            </a:r>
            <a:r>
              <a:rPr sz="1800" spc="-10" dirty="0">
                <a:latin typeface="Times New Roman"/>
                <a:cs typeface="Times New Roman"/>
              </a:rPr>
              <a:t>data.</a:t>
            </a:r>
            <a:endParaRPr sz="1800">
              <a:latin typeface="Times New Roman"/>
              <a:cs typeface="Times New Roman"/>
            </a:endParaRPr>
          </a:p>
          <a:p>
            <a:pPr marL="355600" lvl="1" indent="-342900">
              <a:lnSpc>
                <a:spcPct val="100000"/>
              </a:lnSpc>
              <a:spcBef>
                <a:spcPts val="390"/>
              </a:spcBef>
              <a:buFont typeface="Arial"/>
              <a:buChar char="•"/>
              <a:tabLst>
                <a:tab pos="355600" algn="l"/>
              </a:tabLst>
            </a:pPr>
            <a:r>
              <a:rPr sz="1800" dirty="0">
                <a:latin typeface="Times New Roman"/>
                <a:cs typeface="Times New Roman"/>
              </a:rPr>
              <a:t>Uses</a:t>
            </a:r>
            <a:r>
              <a:rPr sz="1800" spc="15" dirty="0">
                <a:latin typeface="Times New Roman"/>
                <a:cs typeface="Times New Roman"/>
              </a:rPr>
              <a:t> </a:t>
            </a:r>
            <a:r>
              <a:rPr sz="1800" dirty="0">
                <a:latin typeface="Times New Roman"/>
                <a:cs typeface="Times New Roman"/>
              </a:rPr>
              <a:t>collections</a:t>
            </a:r>
            <a:r>
              <a:rPr sz="1800" spc="35" dirty="0">
                <a:latin typeface="Times New Roman"/>
                <a:cs typeface="Times New Roman"/>
              </a:rPr>
              <a:t> </a:t>
            </a:r>
            <a:r>
              <a:rPr sz="1800" dirty="0">
                <a:latin typeface="Times New Roman"/>
                <a:cs typeface="Times New Roman"/>
              </a:rPr>
              <a:t>to</a:t>
            </a:r>
            <a:r>
              <a:rPr sz="1800" spc="-15" dirty="0">
                <a:latin typeface="Times New Roman"/>
                <a:cs typeface="Times New Roman"/>
              </a:rPr>
              <a:t> </a:t>
            </a:r>
            <a:r>
              <a:rPr sz="1800" dirty="0">
                <a:latin typeface="Times New Roman"/>
                <a:cs typeface="Times New Roman"/>
              </a:rPr>
              <a:t>manage</a:t>
            </a:r>
            <a:r>
              <a:rPr sz="1800" spc="10" dirty="0">
                <a:latin typeface="Times New Roman"/>
                <a:cs typeface="Times New Roman"/>
              </a:rPr>
              <a:t> </a:t>
            </a:r>
            <a:r>
              <a:rPr sz="1800" dirty="0">
                <a:latin typeface="Times New Roman"/>
                <a:cs typeface="Times New Roman"/>
              </a:rPr>
              <a:t>users,</a:t>
            </a:r>
            <a:r>
              <a:rPr sz="1800" spc="-10" dirty="0">
                <a:latin typeface="Times New Roman"/>
                <a:cs typeface="Times New Roman"/>
              </a:rPr>
              <a:t> </a:t>
            </a:r>
            <a:r>
              <a:rPr sz="1800" dirty="0">
                <a:latin typeface="Times New Roman"/>
                <a:cs typeface="Times New Roman"/>
              </a:rPr>
              <a:t>doctors,</a:t>
            </a:r>
            <a:r>
              <a:rPr sz="1800" spc="-15" dirty="0">
                <a:latin typeface="Times New Roman"/>
                <a:cs typeface="Times New Roman"/>
              </a:rPr>
              <a:t> </a:t>
            </a:r>
            <a:r>
              <a:rPr sz="1800" dirty="0">
                <a:latin typeface="Times New Roman"/>
                <a:cs typeface="Times New Roman"/>
              </a:rPr>
              <a:t>appointments,</a:t>
            </a:r>
            <a:r>
              <a:rPr sz="1800" spc="-15" dirty="0">
                <a:latin typeface="Times New Roman"/>
                <a:cs typeface="Times New Roman"/>
              </a:rPr>
              <a:t> </a:t>
            </a:r>
            <a:r>
              <a:rPr sz="1800" dirty="0">
                <a:latin typeface="Times New Roman"/>
                <a:cs typeface="Times New Roman"/>
              </a:rPr>
              <a:t>and</a:t>
            </a:r>
            <a:r>
              <a:rPr sz="1800" spc="-15" dirty="0">
                <a:latin typeface="Times New Roman"/>
                <a:cs typeface="Times New Roman"/>
              </a:rPr>
              <a:t> </a:t>
            </a:r>
            <a:r>
              <a:rPr sz="1800" dirty="0">
                <a:latin typeface="Times New Roman"/>
                <a:cs typeface="Times New Roman"/>
              </a:rPr>
              <a:t>payments</a:t>
            </a:r>
            <a:r>
              <a:rPr sz="1800" spc="-35" dirty="0">
                <a:latin typeface="Times New Roman"/>
                <a:cs typeface="Times New Roman"/>
              </a:rPr>
              <a:t> </a:t>
            </a:r>
            <a:r>
              <a:rPr sz="1800" spc="-10" dirty="0">
                <a:latin typeface="Times New Roman"/>
                <a:cs typeface="Times New Roman"/>
              </a:rPr>
              <a:t>efficiently.</a:t>
            </a:r>
            <a:endParaRPr sz="1800">
              <a:latin typeface="Times New Roman"/>
              <a:cs typeface="Times New Roman"/>
            </a:endParaRPr>
          </a:p>
          <a:p>
            <a:pPr>
              <a:lnSpc>
                <a:spcPct val="100000"/>
              </a:lnSpc>
              <a:spcBef>
                <a:spcPts val="484"/>
              </a:spcBef>
            </a:pPr>
            <a:endParaRPr sz="1800">
              <a:latin typeface="Times New Roman"/>
              <a:cs typeface="Times New Roman"/>
            </a:endParaRPr>
          </a:p>
        </p:txBody>
      </p:sp>
      <p:sp>
        <p:nvSpPr>
          <p:cNvPr id="3" name="object 3"/>
          <p:cNvSpPr txBox="1">
            <a:spLocks noGrp="1"/>
          </p:cNvSpPr>
          <p:nvPr>
            <p:ph type="title"/>
          </p:nvPr>
        </p:nvSpPr>
        <p:spPr>
          <a:prstGeom prst="rect">
            <a:avLst/>
          </a:prstGeom>
        </p:spPr>
        <p:txBody>
          <a:bodyPr vert="horz" wrap="square" lIns="0" tIns="270446" rIns="0" bIns="0" rtlCol="0">
            <a:spAutoFit/>
          </a:bodyPr>
          <a:lstStyle/>
          <a:p>
            <a:pPr marL="1981835">
              <a:lnSpc>
                <a:spcPct val="100000"/>
              </a:lnSpc>
              <a:spcBef>
                <a:spcPts val="100"/>
              </a:spcBef>
            </a:pPr>
            <a:r>
              <a:rPr sz="2400" spc="-20" dirty="0"/>
              <a:t>Technology</a:t>
            </a:r>
            <a:r>
              <a:rPr sz="2400" spc="-85" dirty="0"/>
              <a:t> </a:t>
            </a:r>
            <a:r>
              <a:rPr sz="2400" spc="-10" dirty="0"/>
              <a:t>Stack</a:t>
            </a:r>
            <a:endParaRPr sz="2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0325" rIns="0" bIns="0" rtlCol="0">
            <a:spAutoFit/>
          </a:bodyPr>
          <a:lstStyle/>
          <a:p>
            <a:pPr marL="1481455">
              <a:lnSpc>
                <a:spcPct val="100000"/>
              </a:lnSpc>
              <a:spcBef>
                <a:spcPts val="130"/>
              </a:spcBef>
            </a:pPr>
            <a:r>
              <a:rPr dirty="0"/>
              <a:t>Login/Signup</a:t>
            </a:r>
            <a:r>
              <a:rPr spc="-90" dirty="0"/>
              <a:t> </a:t>
            </a:r>
            <a:r>
              <a:rPr spc="-20" dirty="0"/>
              <a:t>Page</a:t>
            </a:r>
          </a:p>
        </p:txBody>
      </p:sp>
      <p:grpSp>
        <p:nvGrpSpPr>
          <p:cNvPr id="5" name="object 5"/>
          <p:cNvGrpSpPr/>
          <p:nvPr/>
        </p:nvGrpSpPr>
        <p:grpSpPr>
          <a:xfrm>
            <a:off x="3821176" y="3478276"/>
            <a:ext cx="596900" cy="292100"/>
            <a:chOff x="3821176" y="3478276"/>
            <a:chExt cx="596900" cy="292100"/>
          </a:xfrm>
          <a:solidFill>
            <a:srgbClr val="FFFF00"/>
          </a:solidFill>
        </p:grpSpPr>
        <p:sp>
          <p:nvSpPr>
            <p:cNvPr id="6" name="object 6"/>
            <p:cNvSpPr/>
            <p:nvPr/>
          </p:nvSpPr>
          <p:spPr>
            <a:xfrm>
              <a:off x="3833876" y="3490976"/>
              <a:ext cx="571500" cy="266700"/>
            </a:xfrm>
            <a:custGeom>
              <a:avLst/>
              <a:gdLst/>
              <a:ahLst/>
              <a:cxnLst/>
              <a:rect l="l" t="t" r="r" b="b"/>
              <a:pathLst>
                <a:path w="571500" h="266700">
                  <a:moveTo>
                    <a:pt x="438150" y="0"/>
                  </a:moveTo>
                  <a:lnTo>
                    <a:pt x="438150" y="66675"/>
                  </a:lnTo>
                  <a:lnTo>
                    <a:pt x="0" y="66675"/>
                  </a:lnTo>
                  <a:lnTo>
                    <a:pt x="0" y="200025"/>
                  </a:lnTo>
                  <a:lnTo>
                    <a:pt x="438150" y="200025"/>
                  </a:lnTo>
                  <a:lnTo>
                    <a:pt x="438150" y="266700"/>
                  </a:lnTo>
                  <a:lnTo>
                    <a:pt x="571500" y="133350"/>
                  </a:lnTo>
                  <a:lnTo>
                    <a:pt x="438150" y="0"/>
                  </a:lnTo>
                  <a:close/>
                </a:path>
              </a:pathLst>
            </a:custGeom>
            <a:grpFill/>
          </p:spPr>
          <p:txBody>
            <a:bodyPr wrap="square" lIns="0" tIns="0" rIns="0" bIns="0" rtlCol="0"/>
            <a:lstStyle/>
            <a:p>
              <a:endParaRPr/>
            </a:p>
          </p:txBody>
        </p:sp>
        <p:sp>
          <p:nvSpPr>
            <p:cNvPr id="7" name="object 7"/>
            <p:cNvSpPr/>
            <p:nvPr/>
          </p:nvSpPr>
          <p:spPr>
            <a:xfrm>
              <a:off x="3833876" y="3490976"/>
              <a:ext cx="571500" cy="266700"/>
            </a:xfrm>
            <a:custGeom>
              <a:avLst/>
              <a:gdLst/>
              <a:ahLst/>
              <a:cxnLst/>
              <a:rect l="l" t="t" r="r" b="b"/>
              <a:pathLst>
                <a:path w="571500" h="266700">
                  <a:moveTo>
                    <a:pt x="0" y="66675"/>
                  </a:moveTo>
                  <a:lnTo>
                    <a:pt x="438150" y="66675"/>
                  </a:lnTo>
                  <a:lnTo>
                    <a:pt x="438150" y="0"/>
                  </a:lnTo>
                  <a:lnTo>
                    <a:pt x="571500" y="133350"/>
                  </a:lnTo>
                  <a:lnTo>
                    <a:pt x="438150" y="266700"/>
                  </a:lnTo>
                  <a:lnTo>
                    <a:pt x="438150" y="200025"/>
                  </a:lnTo>
                  <a:lnTo>
                    <a:pt x="0" y="200025"/>
                  </a:lnTo>
                  <a:lnTo>
                    <a:pt x="0" y="66675"/>
                  </a:lnTo>
                  <a:close/>
                </a:path>
              </a:pathLst>
            </a:custGeom>
            <a:grpFill/>
            <a:ln w="25400">
              <a:solidFill>
                <a:srgbClr val="1C334E"/>
              </a:solidFill>
            </a:ln>
          </p:spPr>
          <p:txBody>
            <a:bodyPr wrap="square" lIns="0" tIns="0" rIns="0" bIns="0" rtlCol="0"/>
            <a:lstStyle/>
            <a:p>
              <a:endParaRPr/>
            </a:p>
          </p:txBody>
        </p:sp>
      </p:grpSp>
      <p:pic>
        <p:nvPicPr>
          <p:cNvPr id="8" name="Picture 7" descr="Screenshot 2026-04-24 202139.png"/>
          <p:cNvPicPr>
            <a:picLocks noChangeAspect="1"/>
          </p:cNvPicPr>
          <p:nvPr/>
        </p:nvPicPr>
        <p:blipFill>
          <a:blip r:embed="rId2"/>
          <a:stretch>
            <a:fillRect/>
          </a:stretch>
        </p:blipFill>
        <p:spPr>
          <a:xfrm>
            <a:off x="428596" y="1142984"/>
            <a:ext cx="3071834" cy="4714908"/>
          </a:xfrm>
          <a:prstGeom prst="rect">
            <a:avLst/>
          </a:prstGeom>
        </p:spPr>
      </p:pic>
      <p:pic>
        <p:nvPicPr>
          <p:cNvPr id="9" name="Picture 8" descr="Screenshot 2026-04-24 202147.png"/>
          <p:cNvPicPr>
            <a:picLocks noChangeAspect="1"/>
          </p:cNvPicPr>
          <p:nvPr/>
        </p:nvPicPr>
        <p:blipFill>
          <a:blip r:embed="rId3"/>
          <a:stretch>
            <a:fillRect/>
          </a:stretch>
        </p:blipFill>
        <p:spPr>
          <a:xfrm>
            <a:off x="4857752" y="1214422"/>
            <a:ext cx="3286148" cy="471490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0325" rIns="0" bIns="0" rtlCol="0">
            <a:spAutoFit/>
          </a:bodyPr>
          <a:lstStyle/>
          <a:p>
            <a:pPr marL="2152650">
              <a:lnSpc>
                <a:spcPct val="100000"/>
              </a:lnSpc>
              <a:spcBef>
                <a:spcPts val="130"/>
              </a:spcBef>
            </a:pPr>
            <a:r>
              <a:rPr spc="-10" dirty="0"/>
              <a:t>Conclusion</a:t>
            </a:r>
          </a:p>
        </p:txBody>
      </p:sp>
      <p:sp>
        <p:nvSpPr>
          <p:cNvPr id="3" name="object 3"/>
          <p:cNvSpPr txBox="1">
            <a:spLocks noGrp="1"/>
          </p:cNvSpPr>
          <p:nvPr>
            <p:ph type="body" idx="1"/>
          </p:nvPr>
        </p:nvSpPr>
        <p:spPr>
          <a:xfrm>
            <a:off x="446405" y="1352486"/>
            <a:ext cx="8295005" cy="5827877"/>
          </a:xfrm>
          <a:prstGeom prst="rect">
            <a:avLst/>
          </a:prstGeom>
        </p:spPr>
        <p:txBody>
          <a:bodyPr vert="horz" wrap="square" lIns="0" tIns="10795" rIns="0" bIns="0" rtlCol="0">
            <a:spAutoFit/>
          </a:bodyPr>
          <a:lstStyle/>
          <a:p>
            <a:pPr algn="just"/>
            <a:r>
              <a:rPr lang="en-US" dirty="0" smtClean="0">
                <a:latin typeface="+mn-lt"/>
                <a:cs typeface="Times New Roman" pitchFamily="18" charset="0"/>
              </a:rPr>
              <a:t>The development of </a:t>
            </a:r>
            <a:r>
              <a:rPr lang="en-US" b="1" dirty="0" smtClean="0">
                <a:latin typeface="+mn-lt"/>
                <a:cs typeface="Times New Roman" pitchFamily="18" charset="0"/>
              </a:rPr>
              <a:t>BookMyTailor</a:t>
            </a:r>
            <a:r>
              <a:rPr lang="en-US" dirty="0" smtClean="0">
                <a:latin typeface="+mn-lt"/>
                <a:cs typeface="Times New Roman" pitchFamily="18" charset="0"/>
              </a:rPr>
              <a:t> aims to transform the way customers interact with tailoring services by providing an efficient and user-friendly digital platform. By leveraging modern web technologies like React.js, Tailwind CSS, Node.js, Express.js, and MongoDB, the system ensures a smooth, secure, and scalable experience. It enables users to easily find tailors, book appointments, and manage their customization needs in one place.</a:t>
            </a:r>
          </a:p>
          <a:p>
            <a:pPr algn="just"/>
            <a:r>
              <a:rPr lang="en-US" dirty="0" smtClean="0">
                <a:latin typeface="+mn-lt"/>
                <a:cs typeface="Times New Roman" pitchFamily="18" charset="0"/>
              </a:rPr>
              <a:t>In conclusion, BookMyTailor successfully combines modern technologies to deliver a practical and accessible solution for both customers and tailoring professionals. With a focus on convenience, efficiency, and scalability, this project opens the door for future enhancements such as online payments, real-time tracking, and personalized recommendations, making it a valuable innovation in the field of digital service platforms</a:t>
            </a:r>
            <a:r>
              <a:rPr lang="en-US" dirty="0" smtClean="0">
                <a:latin typeface="+mn-lt"/>
                <a:cs typeface="Times New Roman" pitchFamily="18" charset="0"/>
              </a:rPr>
              <a:t>.</a:t>
            </a:r>
          </a:p>
          <a:p>
            <a:pPr algn="just"/>
            <a:endParaRPr lang="en-US" dirty="0" smtClean="0">
              <a:latin typeface="+mn-lt"/>
              <a:cs typeface="Times New Roman" pitchFamily="18" charset="0"/>
            </a:endParaRPr>
          </a:p>
          <a:p>
            <a:pPr algn="just"/>
            <a:endParaRPr lang="en-US" dirty="0" smtClean="0">
              <a:latin typeface="+mn-lt"/>
              <a:cs typeface="Times New Roman" pitchFamily="18" charset="0"/>
            </a:endParaRPr>
          </a:p>
          <a:p>
            <a:pPr algn="just"/>
            <a:endParaRPr lang="en-US" dirty="0" smtClean="0">
              <a:latin typeface="+mn-lt"/>
              <a:cs typeface="Times New Roman" pitchFamily="18" charset="0"/>
            </a:endParaRPr>
          </a:p>
          <a:p>
            <a:pPr algn="just"/>
            <a:endParaRPr lang="en-US" dirty="0" smtClean="0">
              <a:latin typeface="+mn-lt"/>
              <a:cs typeface="Times New Roman" pitchFamily="18" charset="0"/>
            </a:endParaRPr>
          </a:p>
          <a:p>
            <a:pPr algn="just"/>
            <a:endParaRPr lang="en-US" dirty="0" smtClean="0">
              <a:latin typeface="+mn-lt"/>
              <a:cs typeface="Times New Roman" pitchFamily="18" charset="0"/>
            </a:endParaRPr>
          </a:p>
          <a:p>
            <a:pPr algn="just"/>
            <a:endParaRPr lang="en-US" dirty="0" smtClean="0">
              <a:latin typeface="+mn-lt"/>
              <a:cs typeface="Times New Roman" pitchFamily="18" charset="0"/>
            </a:endParaRPr>
          </a:p>
          <a:p>
            <a:pPr algn="just"/>
            <a:endParaRPr lang="en-US" dirty="0" smtClean="0">
              <a:latin typeface="+mn-lt"/>
              <a:cs typeface="Times New Roman" pitchFamily="18" charset="0"/>
            </a:endParaRPr>
          </a:p>
          <a:p>
            <a:pPr algn="just"/>
            <a:endParaRPr lang="en-US" dirty="0" smtClean="0">
              <a:latin typeface="+mn-lt"/>
              <a:cs typeface="Times New Roman" pitchFamily="18" charset="0"/>
            </a:endParaRPr>
          </a:p>
          <a:p>
            <a:pPr algn="just"/>
            <a:endParaRPr lang="en-US" dirty="0">
              <a:latin typeface="+mn-lt"/>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397" y="99694"/>
            <a:ext cx="6238875" cy="492443"/>
          </a:xfrm>
        </p:spPr>
        <p:txBody>
          <a:bodyPr/>
          <a:lstStyle/>
          <a:p>
            <a:pPr algn="ctr"/>
            <a:r>
              <a:rPr lang="en-US" dirty="0" smtClean="0">
                <a:latin typeface="+mj-lt"/>
              </a:rPr>
              <a:t>Future Scope </a:t>
            </a:r>
            <a:endParaRPr lang="en-US" dirty="0">
              <a:latin typeface="+mj-lt"/>
            </a:endParaRPr>
          </a:p>
        </p:txBody>
      </p:sp>
      <p:sp>
        <p:nvSpPr>
          <p:cNvPr id="3" name="Text Placeholder 2"/>
          <p:cNvSpPr>
            <a:spLocks noGrp="1"/>
          </p:cNvSpPr>
          <p:nvPr>
            <p:ph type="body" idx="1"/>
          </p:nvPr>
        </p:nvSpPr>
        <p:spPr>
          <a:xfrm>
            <a:off x="446405" y="1352486"/>
            <a:ext cx="8295005" cy="4431983"/>
          </a:xfrm>
        </p:spPr>
        <p:txBody>
          <a:bodyPr/>
          <a:lstStyle/>
          <a:p>
            <a:pPr>
              <a:buFont typeface="Arial" pitchFamily="34" charset="0"/>
              <a:buChar char="•"/>
            </a:pPr>
            <a:r>
              <a:rPr lang="en-US" b="1" dirty="0" smtClean="0"/>
              <a:t>Doorstep tailor service </a:t>
            </a:r>
            <a:r>
              <a:rPr lang="en-US" dirty="0" smtClean="0"/>
              <a:t>– Enable tailors to visit customers at home for measurements and fittings </a:t>
            </a:r>
            <a:endParaRPr lang="en-US" dirty="0" smtClean="0"/>
          </a:p>
          <a:p>
            <a:pPr>
              <a:buFont typeface="Arial" pitchFamily="34" charset="0"/>
              <a:buChar char="•"/>
            </a:pPr>
            <a:endParaRPr lang="en-US" dirty="0" smtClean="0"/>
          </a:p>
          <a:p>
            <a:pPr>
              <a:buFont typeface="Arial" pitchFamily="34" charset="0"/>
              <a:buChar char="•"/>
            </a:pPr>
            <a:r>
              <a:rPr lang="en-US" b="1" dirty="0" smtClean="0"/>
              <a:t>Live </a:t>
            </a:r>
            <a:r>
              <a:rPr lang="en-US" b="1" dirty="0" smtClean="0"/>
              <a:t>tracking </a:t>
            </a:r>
            <a:r>
              <a:rPr lang="en-US" dirty="0" smtClean="0"/>
              <a:t>– Track tailor location in real time during home visits </a:t>
            </a:r>
            <a:r>
              <a:rPr lang="en-US" dirty="0" smtClean="0"/>
              <a:t>Online</a:t>
            </a:r>
          </a:p>
          <a:p>
            <a:r>
              <a:rPr lang="en-US" dirty="0" smtClean="0"/>
              <a:t> </a:t>
            </a:r>
          </a:p>
          <a:p>
            <a:pPr>
              <a:buFont typeface="Arial" pitchFamily="34" charset="0"/>
              <a:buChar char="•"/>
            </a:pPr>
            <a:r>
              <a:rPr lang="en-US" b="1" dirty="0" smtClean="0"/>
              <a:t>payment </a:t>
            </a:r>
            <a:r>
              <a:rPr lang="en-US" b="1" dirty="0" smtClean="0"/>
              <a:t>integration </a:t>
            </a:r>
            <a:r>
              <a:rPr lang="en-US" dirty="0" smtClean="0"/>
              <a:t>– Support secure payments through UPI, cards, and wallets </a:t>
            </a:r>
            <a:endParaRPr lang="en-US" dirty="0" smtClean="0"/>
          </a:p>
          <a:p>
            <a:endParaRPr lang="en-US" dirty="0" smtClean="0"/>
          </a:p>
          <a:p>
            <a:pPr>
              <a:buFont typeface="Arial" pitchFamily="34" charset="0"/>
              <a:buChar char="•"/>
            </a:pPr>
            <a:r>
              <a:rPr lang="en-US" b="1" dirty="0" smtClean="0"/>
              <a:t>Rating </a:t>
            </a:r>
            <a:r>
              <a:rPr lang="en-US" b="1" dirty="0" smtClean="0"/>
              <a:t>and review system </a:t>
            </a:r>
            <a:r>
              <a:rPr lang="en-US" dirty="0" smtClean="0"/>
              <a:t>– Allow users to rate and review tailors </a:t>
            </a:r>
            <a:endParaRPr lang="en-US" dirty="0" smtClean="0"/>
          </a:p>
          <a:p>
            <a:pPr>
              <a:buFont typeface="Arial" pitchFamily="34" charset="0"/>
              <a:buChar char="•"/>
            </a:pPr>
            <a:endParaRPr lang="en-US" dirty="0" smtClean="0"/>
          </a:p>
          <a:p>
            <a:pPr>
              <a:buFont typeface="Arial" pitchFamily="34" charset="0"/>
              <a:buChar char="•"/>
            </a:pPr>
            <a:r>
              <a:rPr lang="en-US" b="1" dirty="0" smtClean="0"/>
              <a:t>Mobile </a:t>
            </a:r>
            <a:r>
              <a:rPr lang="en-US" b="1" dirty="0" smtClean="0"/>
              <a:t>application </a:t>
            </a:r>
            <a:r>
              <a:rPr lang="en-US" dirty="0" smtClean="0"/>
              <a:t>– Develop Android and </a:t>
            </a:r>
            <a:r>
              <a:rPr lang="en-US" dirty="0" err="1" smtClean="0"/>
              <a:t>iOS</a:t>
            </a:r>
            <a:r>
              <a:rPr lang="en-US" dirty="0" smtClean="0"/>
              <a:t> apps for better accessibility </a:t>
            </a:r>
            <a:endParaRPr lang="en-US" dirty="0" smtClean="0"/>
          </a:p>
          <a:p>
            <a:pPr>
              <a:buFont typeface="Arial" pitchFamily="34" charset="0"/>
              <a:buChar char="•"/>
            </a:pPr>
            <a:endParaRPr lang="en-US" dirty="0" smtClean="0"/>
          </a:p>
          <a:p>
            <a:pPr>
              <a:buFont typeface="Arial" pitchFamily="34" charset="0"/>
              <a:buChar char="•"/>
            </a:pPr>
            <a:r>
              <a:rPr lang="en-US" b="1" dirty="0" smtClean="0"/>
              <a:t>Notifications </a:t>
            </a:r>
            <a:r>
              <a:rPr lang="en-US" b="1" dirty="0" smtClean="0"/>
              <a:t>and alerts </a:t>
            </a:r>
            <a:r>
              <a:rPr lang="en-US" dirty="0" smtClean="0"/>
              <a:t>– Provide booking confirmations, reminders, and updates </a:t>
            </a:r>
            <a:endParaRPr lang="en-US" dirty="0" smtClean="0"/>
          </a:p>
          <a:p>
            <a:pPr>
              <a:buFont typeface="Arial" pitchFamily="34" charset="0"/>
              <a:buChar char="•"/>
            </a:pPr>
            <a:endParaRPr lang="en-US" dirty="0" smtClean="0"/>
          </a:p>
          <a:p>
            <a:pPr>
              <a:buFont typeface="Arial" pitchFamily="34" charset="0"/>
              <a:buChar char="•"/>
            </a:pPr>
            <a:r>
              <a:rPr lang="en-US" b="1" dirty="0" smtClean="0"/>
              <a:t>AI-based </a:t>
            </a:r>
            <a:r>
              <a:rPr lang="en-US" b="1" dirty="0" smtClean="0"/>
              <a:t>recommendations </a:t>
            </a:r>
            <a:r>
              <a:rPr lang="en-US" dirty="0" smtClean="0"/>
              <a:t>– Suggest designs and tailors based on user </a:t>
            </a:r>
            <a:r>
              <a:rPr lang="en-US" dirty="0" smtClean="0"/>
              <a:t>preferences  </a:t>
            </a:r>
          </a:p>
          <a:p>
            <a:pPr>
              <a:buFont typeface="Arial" pitchFamily="34" charset="0"/>
              <a:buChar char="•"/>
            </a:pPr>
            <a:endParaRPr lang="en-US" dirty="0" smtClean="0"/>
          </a:p>
          <a:p>
            <a:pPr>
              <a:buFont typeface="Arial" pitchFamily="34" charset="0"/>
              <a:buChar char="•"/>
            </a:pPr>
            <a:r>
              <a:rPr lang="en-US" b="1" dirty="0" smtClean="0"/>
              <a:t>Multi-city expansion </a:t>
            </a:r>
            <a:r>
              <a:rPr lang="en-US" dirty="0" smtClean="0"/>
              <a:t>– Scale the platform to multiple locations</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84195" y="3031108"/>
            <a:ext cx="3982085" cy="1033144"/>
          </a:xfrm>
          <a:prstGeom prst="rect">
            <a:avLst/>
          </a:prstGeom>
        </p:spPr>
        <p:txBody>
          <a:bodyPr vert="horz" wrap="square" lIns="0" tIns="13970" rIns="0" bIns="0" rtlCol="0">
            <a:spAutoFit/>
          </a:bodyPr>
          <a:lstStyle/>
          <a:p>
            <a:pPr marL="12700">
              <a:lnSpc>
                <a:spcPct val="100000"/>
              </a:lnSpc>
              <a:spcBef>
                <a:spcPts val="110"/>
              </a:spcBef>
            </a:pPr>
            <a:r>
              <a:rPr sz="6600" dirty="0"/>
              <a:t>Thank</a:t>
            </a:r>
            <a:r>
              <a:rPr sz="6600" spc="-290" dirty="0"/>
              <a:t> </a:t>
            </a:r>
            <a:r>
              <a:rPr sz="6600" spc="-695" dirty="0"/>
              <a:t>Y</a:t>
            </a:r>
            <a:r>
              <a:rPr sz="6600" spc="25" dirty="0"/>
              <a:t>ou</a:t>
            </a:r>
            <a:endParaRPr sz="66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74</TotalTime>
  <Words>876</Words>
  <Application>Microsoft Office PowerPoint</Application>
  <PresentationFormat>On-screen Show (4:3)</PresentationFormat>
  <Paragraphs>100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Industry Oriented Hands-on Experience</vt:lpstr>
      <vt:lpstr>Sustainable Development Goals</vt:lpstr>
      <vt:lpstr>Introduction</vt:lpstr>
      <vt:lpstr>Problem Statement &amp; Need Statement</vt:lpstr>
      <vt:lpstr>Web Design</vt:lpstr>
      <vt:lpstr>Activity Diagram</vt:lpstr>
      <vt:lpstr>Class Diagram</vt:lpstr>
      <vt:lpstr>Sequence Diagram</vt:lpstr>
      <vt:lpstr>Technology Stack</vt:lpstr>
      <vt:lpstr>Technology Stack</vt:lpstr>
      <vt:lpstr>Login/Signup Page</vt:lpstr>
      <vt:lpstr>Conclusion</vt:lpstr>
      <vt:lpstr>Future Scope </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Industry Oriented Hands-on Experience</dc:title>
  <dc:creator>Dell</dc:creator>
  <cp:lastModifiedBy>Dell</cp:lastModifiedBy>
  <cp:revision>10</cp:revision>
  <dcterms:created xsi:type="dcterms:W3CDTF">2025-10-30T11:32:40Z</dcterms:created>
  <dcterms:modified xsi:type="dcterms:W3CDTF">2026-04-24T14:54:52Z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2025-05-07T00:00:00Z</vt:filetime>
  </property>
  <property fmtid="{D5CDD505-2E9C-101B-9397-08002B2CF9AE}" pid="3" name="LastSaved">
    <vt:filetime>2025-10-30T00:00:00Z</vt:filetime>
  </property>
</Properties>
</file>